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9" r:id="rId5"/>
    <p:sldId id="340" r:id="rId6"/>
    <p:sldId id="329" r:id="rId7"/>
    <p:sldId id="33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pos="7068" userDrawn="1">
          <p15:clr>
            <a:srgbClr val="A4A3A4"/>
          </p15:clr>
        </p15:guide>
        <p15:guide id="5" orient="horz" pos="13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CBE"/>
    <a:srgbClr val="85509A"/>
    <a:srgbClr val="714484"/>
    <a:srgbClr val="0073CF"/>
    <a:srgbClr val="203232"/>
    <a:srgbClr val="30454F"/>
    <a:srgbClr val="1295D8"/>
    <a:srgbClr val="004A5C"/>
    <a:srgbClr val="0093B6"/>
    <a:srgbClr val="00B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1EB13-4B4A-3A65-7705-B39B10420BC6}" v="11" dt="2025-11-07T13:21:13.889"/>
    <p1510:client id="{94404E7A-4EB2-D0DE-A758-3B2FEF7E6025}" v="1178" dt="2025-11-07T14:31:40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  <p:guide orient="horz" pos="3249"/>
        <p:guide pos="7068"/>
        <p:guide orient="horz" pos="13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8966F2-21A1-4B2B-ADA6-AD0BB447B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468BB-CDF2-4507-B4EF-7B369D307A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AC3A-BD1F-4A00-9099-74B95789FE00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BCF7D-6037-48D3-84E5-56B8B0552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E732-656C-4BB5-ACCB-1568C5C66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51D9-0FEB-436E-9280-D6033F6035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84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59C8A-39F6-4045-9163-4042C4C26B15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0952-48CC-46D7-9FCD-59FAD40CC0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1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941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70952-48CC-46D7-9FCD-59FAD40CC0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8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Hertfordshire logo">
            <a:extLst>
              <a:ext uri="{FF2B5EF4-FFF2-40B4-BE49-F238E27FC236}">
                <a16:creationId xmlns:a16="http://schemas.microsoft.com/office/drawing/2014/main" id="{16E4BB13-0D32-AA4A-BF91-2B76A7C182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4000" y="2854800"/>
            <a:ext cx="6501600" cy="11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4000" y="1890000"/>
            <a:ext cx="10031156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CCF2CA0-CCE3-4304-8F31-4D1CC50BC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0" y="5511600"/>
            <a:ext cx="2242800" cy="39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6B9F5-608F-4534-96F0-C3A5E1A6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4000" y="1890000"/>
            <a:ext cx="7200000" cy="3600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 b="1" kern="3000" spc="-1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E7B9-9AC6-4E42-A931-6FF91E6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91022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D645-6420-4785-8316-43EF780F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F9898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449821-0D0D-644D-97A3-D56097A9C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3999" y="2579715"/>
            <a:ext cx="10031157" cy="2160000"/>
          </a:xfrm>
        </p:spPr>
        <p:txBody>
          <a:bodyPr anchor="t" anchorCtr="0">
            <a:normAutofit/>
          </a:bodyPr>
          <a:lstStyle>
            <a:lvl1pPr algn="l">
              <a:lnSpc>
                <a:spcPts val="8000"/>
              </a:lnSpc>
              <a:defRPr sz="7500" b="1" kern="3000" spc="-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EB17-8019-7B4E-B53C-76B057A7C31F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03EF50-F00F-9643-BE53-F0A5272FC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998" y="5517266"/>
            <a:ext cx="2244881" cy="3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BDFA-876B-4255-A301-F62F1EDD8D6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73668" y="2717444"/>
            <a:ext cx="4903200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6000" y="2717444"/>
            <a:ext cx="4456800" cy="31752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4pPr>
              <a:defRPr/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19DAE-53D8-4F04-A4B9-B6EDFC23886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4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5" userDrawn="1">
          <p15:clr>
            <a:srgbClr val="FBAE40"/>
          </p15:clr>
        </p15:guide>
        <p15:guide id="3" pos="3989" userDrawn="1">
          <p15:clr>
            <a:srgbClr val="FBAE40"/>
          </p15:clr>
        </p15:guide>
        <p15:guide id="4" pos="37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2717600"/>
            <a:ext cx="10251722" cy="31752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32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B5-BA04-4DB3-853D-A1C05ADF8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/>
          <a:p>
            <a:r>
              <a:rPr lang="en-US"/>
              <a:t>Click to add title.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0712-862D-4568-80A4-86117B8967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r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9D4C03-E8B1-644E-949B-F7AF911818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70139" y="1367692"/>
            <a:ext cx="10251722" cy="4923693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chemeClr val="bg1"/>
                </a:solidFill>
              </a:defRPr>
            </a:lvl1pPr>
            <a:lvl2pPr>
              <a:defRPr lang="en-US" dirty="0" smtClean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EDA17D-AAE6-954F-93C6-90B8D7B80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4000" y="775255"/>
            <a:ext cx="73615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62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C709-1F3D-4B13-A290-4041A33FB10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35952" y="2728800"/>
            <a:ext cx="2959200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GB" spc="-100" baseline="0" dirty="0"/>
            </a:lvl4pPr>
            <a:lvl5pPr>
              <a:defRPr spc="-100" baseline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4043F1-6F14-49BD-83CA-12B559ABC1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088" y="2728913"/>
            <a:ext cx="6400800" cy="412908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1C537-0174-43E5-8B81-C80AF1D06831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1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E49-0143-472F-897B-A7DAB87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C9C5-E913-47B9-82DE-196768E6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58F66-ECA3-4B00-A383-8D2B862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CF96-B7D6-4CCD-A4AE-46A67249D3BD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1F3B7A-B2BF-40FC-8EB2-F1C37D3164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3999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5B7A667-B99F-7A41-AAC3-ED24B9B1D92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78804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3C1FF47-695D-B348-AF37-1ADF5736FA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13975" y="2728800"/>
            <a:ext cx="2959199" cy="3164000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GB" dirty="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b="0"/>
              <a:t>Add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7C322-846C-9045-AD91-A93C82FC5A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203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ABCF9A5-761F-434B-BBB5-D788CB1E79D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140400" y="140400"/>
            <a:ext cx="11916000" cy="6580800"/>
          </a:xfrm>
          <a:solidFill>
            <a:schemeClr val="bg1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80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6D5D-0892-4B4E-86D9-894852B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FC-C061-4730-9EA5-A52A0041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AA271-B0BA-42CD-A544-17AAB1FA2EEA}"/>
              </a:ext>
            </a:extLst>
          </p:cNvPr>
          <p:cNvSpPr/>
          <p:nvPr userDrawn="1"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99880E3-4DE3-A642-9738-DF49DDCC9A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70139" y="4079342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>
              <a:defRPr lang="en-US" b="0" dirty="0" smtClean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37D495-D835-8E4B-A177-5E12F893DD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77200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804C7E-983C-9246-90C0-AF8A0CE2CA8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23669" y="4062209"/>
            <a:ext cx="3144661" cy="225213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 lang="en-US" b="0">
                <a:solidFill>
                  <a:srgbClr val="203232"/>
                </a:solidFill>
              </a:defRPr>
            </a:lvl1pPr>
            <a:lvl2pPr>
              <a:defRPr lang="en-US" dirty="0" smtClean="0"/>
            </a:lvl2pPr>
            <a:lvl3pPr>
              <a:defRPr lang="en-GB" dirty="0"/>
            </a:lvl3pPr>
            <a:lvl5pPr>
              <a:defRPr>
                <a:solidFill>
                  <a:schemeClr val="accent4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</a:t>
            </a:r>
            <a:r>
              <a:rPr lang="en-US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410427-8F1D-7541-9C05-AFDD3531678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6217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8B7D5964-7A97-5742-8717-CCB747F84A0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15705" y="1640942"/>
            <a:ext cx="2160587" cy="21605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44933FE-A401-A841-9AC3-B75285AA32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69236" y="1640942"/>
            <a:ext cx="2160587" cy="2160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1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CE188-32E7-4242-9E44-E8055FC030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1B53D-9933-445F-9B68-E730EB38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44" y="1964352"/>
            <a:ext cx="11828559" cy="1051570"/>
          </a:xfrm>
        </p:spPr>
        <p:txBody>
          <a:bodyPr vert="horz" wrap="non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en-GB" sz="7386" spc="-3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8186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BE80A-BFEC-E24A-B510-73A571F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79733"/>
            <a:ext cx="7176911" cy="230832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25B4-144A-5B4A-8EAD-2022412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79733"/>
            <a:ext cx="622800" cy="230832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A62CF-E2B4-496D-829D-DCE37260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84EF4-0E07-4BF3-A4AB-3E8632AA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 b="1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7A5D-B761-4C2F-97E6-5D825442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0139" y="775255"/>
            <a:ext cx="7176911" cy="2308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TITLE (ADD VIA INSERT,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661B1-4E4B-4F85-ACA3-C34023D7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5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55CA-84B7-41B1-B164-8BB439CC7C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0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77" r:id="rId3"/>
    <p:sldLayoutId id="2147483652" r:id="rId4"/>
    <p:sldLayoutId id="2147483682" r:id="rId5"/>
    <p:sldLayoutId id="2147483721" r:id="rId6"/>
    <p:sldLayoutId id="2147483722" r:id="rId7"/>
    <p:sldLayoutId id="2147483684" r:id="rId8"/>
    <p:sldLayoutId id="2147483685" r:id="rId9"/>
    <p:sldLayoutId id="2147483686" r:id="rId10"/>
    <p:sldLayoutId id="2147483723" r:id="rId11"/>
    <p:sldLayoutId id="214748370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600" b="1" kern="2000" spc="-100" baseline="0">
          <a:solidFill>
            <a:srgbClr val="20323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b="1" kern="2000" spc="-100" baseline="0">
          <a:solidFill>
            <a:srgbClr val="20323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ts val="288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■"/>
        <a:defRPr sz="2400" kern="2000" spc="-100" baseline="0">
          <a:solidFill>
            <a:srgbClr val="20323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0323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216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rgbClr val="2032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pos="604" userDrawn="1">
          <p15:clr>
            <a:srgbClr val="F26B43"/>
          </p15:clr>
        </p15:guide>
        <p15:guide id="5" pos="7076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604" userDrawn="1">
          <p15:clr>
            <a:srgbClr val="F26B43"/>
          </p15:clr>
        </p15:guide>
        <p15:guide id="10" orient="horz" pos="3712" userDrawn="1">
          <p15:clr>
            <a:srgbClr val="F26B43"/>
          </p15:clr>
        </p15:guide>
        <p15:guide id="11" orient="horz" pos="1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AEE4-CC66-FE42-B0C3-2CC7AFD37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Question – </a:t>
            </a:r>
            <a:br>
              <a:rPr lang="en-US" dirty="0"/>
            </a:br>
            <a:r>
              <a:rPr lang="en-US" sz="4000" dirty="0"/>
              <a:t>Tutorial Presentation for Feedback</a:t>
            </a:r>
            <a:br>
              <a:rPr lang="en-US" sz="4000" dirty="0"/>
            </a:br>
            <a:r>
              <a:rPr lang="en-US" sz="2200" spc="0" dirty="0"/>
              <a:t>Date: 17/11/2025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DA97-5166-7F4B-BC83-F50AC8BED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Group Name: A115                                                    Name of Student Presenting:  Bhavithra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4D14-5620-EC41-A86C-6CC3CFD6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411" y="316653"/>
            <a:ext cx="11489178" cy="1156547"/>
          </a:xfrm>
        </p:spPr>
        <p:txBody>
          <a:bodyPr/>
          <a:lstStyle/>
          <a:p>
            <a:r>
              <a:rPr lang="en-GB" dirty="0"/>
              <a:t>7COM1079-2025  Student Group No: A115                  Names of Student Attendees: </a:t>
            </a:r>
            <a:r>
              <a:rPr lang="en-US" sz="1600" dirty="0"/>
              <a:t>Bhavithra Sivakumar Renugadevi,</a:t>
            </a:r>
          </a:p>
          <a:p>
            <a:r>
              <a:rPr lang="en-GB" dirty="0"/>
              <a:t>                                                                                                                                        Swasthika Karne , Nandu Yenne ,                      </a:t>
            </a:r>
          </a:p>
          <a:p>
            <a:r>
              <a:rPr lang="en-GB" dirty="0"/>
              <a:t>                                                                                                                                        Nishanth Senthil Kumar , Vibin Vijayakumar </a:t>
            </a:r>
          </a:p>
        </p:txBody>
      </p:sp>
    </p:spTree>
    <p:extLst>
      <p:ext uri="{BB962C8B-B14F-4D97-AF65-F5344CB8AC3E}">
        <p14:creationId xmlns:p14="http://schemas.microsoft.com/office/powerpoint/2010/main" val="41485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9" y="1147638"/>
            <a:ext cx="9753625" cy="230832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solidFill>
                  <a:srgbClr val="203232"/>
                </a:solidFill>
                <a:cs typeface="Arial"/>
              </a:rPr>
              <a:t>Here is a sample of our dataset: </a:t>
            </a:r>
            <a:endParaRPr lang="en-GB" sz="18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9" y="761912"/>
            <a:ext cx="7176911" cy="230832"/>
          </a:xfrm>
        </p:spPr>
        <p:txBody>
          <a:bodyPr/>
          <a:lstStyle/>
          <a:p>
            <a:r>
              <a:rPr lang="en-GB" dirty="0"/>
              <a:t>PRE 7COM1079-2025  Student Group No:  A115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B15B6-E5F1-1198-D820-8D6E647385D3}"/>
              </a:ext>
            </a:extLst>
          </p:cNvPr>
          <p:cNvSpPr txBox="1"/>
          <p:nvPr/>
        </p:nvSpPr>
        <p:spPr>
          <a:xfrm>
            <a:off x="770556" y="1533364"/>
            <a:ext cx="108530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IMDB_movies</a:t>
            </a:r>
            <a:r>
              <a:rPr lang="en-US" dirty="0"/>
              <a:t> dataset </a:t>
            </a:r>
          </a:p>
          <a:p>
            <a:endParaRPr lang="en-US" dirty="0"/>
          </a:p>
          <a:p>
            <a:r>
              <a:rPr lang="en-US" dirty="0"/>
              <a:t>2. The first 5 rows of the selected variables are shown below, displaying the movie duration and their average vote.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3. The dataset contains </a:t>
            </a:r>
            <a:r>
              <a:rPr lang="en-IN" dirty="0"/>
              <a:t>81273</a:t>
            </a:r>
            <a:r>
              <a:rPr lang="en-US" b="1" dirty="0"/>
              <a:t> </a:t>
            </a:r>
            <a:r>
              <a:rPr lang="en-US" dirty="0"/>
              <a:t>rows &amp; 22 columns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251461-7F47-ACCC-60F9-CF5E9BE97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476954"/>
              </p:ext>
            </p:extLst>
          </p:nvPr>
        </p:nvGraphicFramePr>
        <p:xfrm>
          <a:off x="2362200" y="2723572"/>
          <a:ext cx="5867400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3708414924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342601563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793839987"/>
                    </a:ext>
                  </a:extLst>
                </a:gridCol>
              </a:tblGrid>
              <a:tr h="204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imdb_title_id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avg_vote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>
                          <a:solidFill>
                            <a:srgbClr val="000000"/>
                          </a:solidFill>
                          <a:effectLst/>
                        </a:rPr>
                        <a:t>budget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05858816"/>
                  </a:ext>
                </a:extLst>
              </a:tr>
              <a:tr h="247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tt0000574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$ 2250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0942731"/>
                  </a:ext>
                </a:extLst>
              </a:tr>
              <a:tr h="247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tt0002101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5.2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$ 45000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5704611"/>
                  </a:ext>
                </a:extLst>
              </a:tr>
              <a:tr h="247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tt0002445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ITL 45000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30717364"/>
                  </a:ext>
                </a:extLst>
              </a:tr>
              <a:tr h="247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tt0002452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ROL 400000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8873412"/>
                  </a:ext>
                </a:extLst>
              </a:tr>
              <a:tr h="247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tt0002461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5.5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$ 30000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51118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09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9D8228-727F-1E46-B5AD-91D158B8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88" y="1285092"/>
            <a:ext cx="10110240" cy="58802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pc="0" dirty="0"/>
              <a:t>Dataset </a:t>
            </a:r>
            <a:r>
              <a:rPr lang="en-US" spc="0" dirty="0">
                <a:solidFill>
                  <a:srgbClr val="203232"/>
                </a:solidFill>
              </a:rPr>
              <a:t>ID</a:t>
            </a:r>
            <a:r>
              <a:rPr lang="en-US" sz="1600" b="0" spc="0" dirty="0">
                <a:solidFill>
                  <a:srgbClr val="FF0000"/>
                </a:solidFill>
              </a:rPr>
              <a:t>: ds115 </a:t>
            </a:r>
            <a:r>
              <a:rPr lang="en-IN" sz="1600" b="0" spc="0" dirty="0" err="1">
                <a:solidFill>
                  <a:srgbClr val="FF0000"/>
                </a:solidFill>
              </a:rPr>
              <a:t>IMDb_movies</a:t>
            </a:r>
            <a:endParaRPr lang="en-IN" sz="1600" b="0" spc="0" dirty="0">
              <a:solidFill>
                <a:srgbClr val="FF0000"/>
              </a:solidFill>
            </a:endParaRPr>
          </a:p>
          <a:p>
            <a:endParaRPr lang="en-US" sz="2400" spc="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C183-8AA5-EC44-9987-D65F5C18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288" y="791022"/>
            <a:ext cx="9129687" cy="230832"/>
          </a:xfrm>
        </p:spPr>
        <p:txBody>
          <a:bodyPr/>
          <a:lstStyle/>
          <a:p>
            <a:r>
              <a:rPr lang="en-GB" dirty="0"/>
              <a:t>7COM1079-2025  Student Group No: A125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9611-42EE-7840-81EE-DD6B1A9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4512" y="555565"/>
            <a:ext cx="622800" cy="230832"/>
          </a:xfrm>
        </p:spPr>
        <p:txBody>
          <a:bodyPr/>
          <a:lstStyle/>
          <a:p>
            <a:r>
              <a:rPr lang="en-US"/>
              <a:t>2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FA3829-F12C-214D-8FBA-7E1A740F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88" y="1873116"/>
            <a:ext cx="10974945" cy="33921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pc="0" dirty="0">
                <a:latin typeface="+mn-lt"/>
                <a:cs typeface="Calibri"/>
              </a:rPr>
              <a:t>This dataset is interesting to us because:</a:t>
            </a: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This dataset is interesting because it lets us examine how a movie’s budget relates to its audience ratings </a:t>
            </a:r>
            <a:br>
              <a:rPr lang="en-US" sz="2000" b="0" spc="0" dirty="0">
                <a:latin typeface="+mn-lt"/>
                <a:cs typeface="Calibri"/>
              </a:rPr>
            </a:b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Our  Independent variable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movie budget</a:t>
            </a: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This is the category of movie’s budget</a:t>
            </a: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This  Independent variable datatype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ratio</a:t>
            </a:r>
            <a:br>
              <a:rPr lang="en-US" sz="2000" b="0" spc="0" dirty="0">
                <a:latin typeface="+mn-lt"/>
                <a:cs typeface="Calibri"/>
              </a:rPr>
            </a:b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Our Dependent variable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audience rating</a:t>
            </a: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This is average IMDb user rating for each movie.</a:t>
            </a:r>
            <a:br>
              <a:rPr lang="en-US" sz="2000" b="0" spc="0" dirty="0">
                <a:latin typeface="+mn-lt"/>
                <a:cs typeface="Calibri"/>
              </a:rPr>
            </a:br>
            <a:r>
              <a:rPr lang="en-US" sz="2000" b="0" spc="0" dirty="0">
                <a:latin typeface="+mn-lt"/>
                <a:cs typeface="Calibri"/>
              </a:rPr>
              <a:t>This Dependent variable datatype is: </a:t>
            </a:r>
            <a:r>
              <a:rPr lang="en-US" sz="2000" b="0" spc="0" dirty="0">
                <a:solidFill>
                  <a:srgbClr val="FF0000"/>
                </a:solidFill>
                <a:latin typeface="+mn-lt"/>
                <a:cs typeface="Calibri"/>
              </a:rPr>
              <a:t>Interval</a:t>
            </a:r>
          </a:p>
        </p:txBody>
      </p:sp>
    </p:spTree>
    <p:extLst>
      <p:ext uri="{BB962C8B-B14F-4D97-AF65-F5344CB8AC3E}">
        <p14:creationId xmlns:p14="http://schemas.microsoft.com/office/powerpoint/2010/main" val="17180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3CD731-5ACF-B002-247D-243F6E214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775" y="1116546"/>
            <a:ext cx="9753625" cy="23083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GB" dirty="0"/>
              <a:t>Our Research Question </a:t>
            </a:r>
            <a:endParaRPr lang="en-US" sz="1800" b="0" spc="0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D431B-7665-75B0-2D73-5BD588DC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 7COM1079-2025  Student Group No:  A115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FA15-B17F-387B-E383-5505647A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6400" y="791022"/>
            <a:ext cx="622800" cy="230832"/>
          </a:xfrm>
        </p:spPr>
        <p:txBody>
          <a:bodyPr/>
          <a:lstStyle/>
          <a:p>
            <a:r>
              <a:rPr lang="en-US"/>
              <a:t>3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40DA25-F620-152B-DE9E-776F7B74D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775" y="1588416"/>
            <a:ext cx="10640594" cy="15865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0" spc="0" dirty="0">
                <a:solidFill>
                  <a:srgbClr val="FF0000"/>
                </a:solidFill>
              </a:rPr>
              <a:t>Is there a correlation between the average audience rating </a:t>
            </a:r>
            <a:r>
              <a:rPr lang="en-US" sz="2000" b="0" spc="0">
                <a:solidFill>
                  <a:srgbClr val="FF0000"/>
                </a:solidFill>
              </a:rPr>
              <a:t>and the production </a:t>
            </a:r>
            <a:r>
              <a:rPr lang="en-US" sz="2000" b="0" spc="0" dirty="0">
                <a:solidFill>
                  <a:srgbClr val="FF0000"/>
                </a:solidFill>
              </a:rPr>
              <a:t>budget  of movies listed on the Internet Movie Database (IMDb) released </a:t>
            </a:r>
            <a:r>
              <a:rPr lang="en-US" sz="2000" b="0" spc="0">
                <a:solidFill>
                  <a:srgbClr val="FF0000"/>
                </a:solidFill>
              </a:rPr>
              <a:t>between 2002 </a:t>
            </a:r>
            <a:r>
              <a:rPr lang="en-US" sz="2000" b="0" spc="0" dirty="0">
                <a:solidFill>
                  <a:srgbClr val="FF0000"/>
                </a:solidFill>
              </a:rPr>
              <a:t>and 2019?</a:t>
            </a:r>
            <a:br>
              <a:rPr lang="en-US" sz="2000" b="0" spc="0" dirty="0">
                <a:solidFill>
                  <a:srgbClr val="FF0000"/>
                </a:solidFill>
              </a:rPr>
            </a:br>
            <a:br>
              <a:rPr lang="en-US" sz="2400" b="0" spc="0" dirty="0">
                <a:solidFill>
                  <a:srgbClr val="FF0000"/>
                </a:solidFill>
              </a:rPr>
            </a:br>
            <a:br>
              <a:rPr lang="en-US" sz="2400" b="0" spc="0" dirty="0">
                <a:solidFill>
                  <a:srgbClr val="FF0000"/>
                </a:solidFill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CBB269B-EC9E-7257-87AF-4FC5C5091401}"/>
              </a:ext>
            </a:extLst>
          </p:cNvPr>
          <p:cNvSpPr txBox="1">
            <a:spLocks/>
          </p:cNvSpPr>
          <p:nvPr/>
        </p:nvSpPr>
        <p:spPr>
          <a:xfrm>
            <a:off x="862775" y="2558137"/>
            <a:ext cx="10640594" cy="224972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7500" b="1" kern="3000" spc="-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0" spc="0" dirty="0">
                <a:solidFill>
                  <a:srgbClr val="FF0000"/>
                </a:solidFill>
              </a:rPr>
              <a:t>Null Hypothesis (H₀):</a:t>
            </a:r>
          </a:p>
          <a:p>
            <a:pPr>
              <a:lnSpc>
                <a:spcPct val="100000"/>
              </a:lnSpc>
            </a:pPr>
            <a:r>
              <a:rPr lang="en-US" sz="2000" b="0" spc="0" dirty="0"/>
              <a:t>There is no correlation between average audience rating and movies budget</a:t>
            </a:r>
          </a:p>
          <a:p>
            <a:pPr>
              <a:lnSpc>
                <a:spcPct val="100000"/>
              </a:lnSpc>
            </a:pPr>
            <a:endParaRPr lang="en-US" sz="2000" b="0" spc="0" dirty="0"/>
          </a:p>
          <a:p>
            <a:pPr>
              <a:lnSpc>
                <a:spcPct val="100000"/>
              </a:lnSpc>
            </a:pPr>
            <a:r>
              <a:rPr lang="en-US" sz="2000" b="0" spc="0" dirty="0">
                <a:solidFill>
                  <a:srgbClr val="FF0000"/>
                </a:solidFill>
              </a:rPr>
              <a:t>Alternative Hypothesis (H₁):</a:t>
            </a:r>
          </a:p>
          <a:p>
            <a:pPr>
              <a:lnSpc>
                <a:spcPct val="100000"/>
              </a:lnSpc>
            </a:pPr>
            <a:r>
              <a:rPr lang="en-US" sz="2000" b="0" spc="0" dirty="0"/>
              <a:t>There is a correlation between average audience rating and movies budget</a:t>
            </a:r>
          </a:p>
        </p:txBody>
      </p:sp>
    </p:spTree>
    <p:extLst>
      <p:ext uri="{BB962C8B-B14F-4D97-AF65-F5344CB8AC3E}">
        <p14:creationId xmlns:p14="http://schemas.microsoft.com/office/powerpoint/2010/main" val="32494612"/>
      </p:ext>
    </p:extLst>
  </p:cSld>
  <p:clrMapOvr>
    <a:masterClrMapping/>
  </p:clrMapOvr>
</p:sld>
</file>

<file path=ppt/theme/theme1.xml><?xml version="1.0" encoding="utf-8"?>
<a:theme xmlns:a="http://schemas.openxmlformats.org/drawingml/2006/main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BA85F447B164191BB36C258697B67" ma:contentTypeVersion="14" ma:contentTypeDescription="Create a new document." ma:contentTypeScope="" ma:versionID="ea511d05ca7f895fe9556935b5c9af34">
  <xsd:schema xmlns:xsd="http://www.w3.org/2001/XMLSchema" xmlns:xs="http://www.w3.org/2001/XMLSchema" xmlns:p="http://schemas.microsoft.com/office/2006/metadata/properties" xmlns:ns2="4ad138b4-2b68-4b70-945d-07f8f18b1c9a" xmlns:ns3="3c474641-ec36-472f-b125-6b1b0910eaa4" targetNamespace="http://schemas.microsoft.com/office/2006/metadata/properties" ma:root="true" ma:fieldsID="662270106d7a7e100bcac2c5f8d29899" ns2:_="" ns3:_="">
    <xsd:import namespace="4ad138b4-2b68-4b70-945d-07f8f18b1c9a"/>
    <xsd:import namespace="3c474641-ec36-472f-b125-6b1b0910ea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Informa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d138b4-2b68-4b70-945d-07f8f18b1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formation" ma:index="12" nillable="true" ma:displayName="Information" ma:format="Dropdown" ma:internalName="Inform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74641-ec36-472f-b125-6b1b0910ea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4ad138b4-2b68-4b70-945d-07f8f18b1c9a" xsi:nil="true"/>
  </documentManagement>
</p:properties>
</file>

<file path=customXml/itemProps1.xml><?xml version="1.0" encoding="utf-8"?>
<ds:datastoreItem xmlns:ds="http://schemas.openxmlformats.org/officeDocument/2006/customXml" ds:itemID="{91C521DD-2673-4EE6-BB9B-DC5C3320F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1B8C57-903D-4D0E-8336-7B512F760CD1}">
  <ds:schemaRefs>
    <ds:schemaRef ds:uri="3c474641-ec36-472f-b125-6b1b0910eaa4"/>
    <ds:schemaRef ds:uri="4ad138b4-2b68-4b70-945d-07f8f18b1c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D1FC41-23C7-41B0-B5F9-BF4CD38AD2ED}">
  <ds:schemaRefs>
    <ds:schemaRef ds:uri="3c474641-ec36-472f-b125-6b1b0910eaa4"/>
    <ds:schemaRef ds:uri="4ad138b4-2b68-4b70-945d-07f8f18b1c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308</Words>
  <Application>Microsoft Office PowerPoint</Application>
  <PresentationFormat>Widescreen</PresentationFormat>
  <Paragraphs>54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 Narrow</vt:lpstr>
      <vt:lpstr>Arial</vt:lpstr>
      <vt:lpstr>Calibri</vt:lpstr>
      <vt:lpstr>Herts Theme</vt:lpstr>
      <vt:lpstr>Research Question –  Tutorial Presentation for Feedback Date: 17/11/2025</vt:lpstr>
      <vt:lpstr>PowerPoint Presentation</vt:lpstr>
      <vt:lpstr>This dataset is interesting to us because: This dataset is interesting because it lets us examine how a movie’s budget relates to its audience ratings   Our  Independent variable is: movie budget This is the category of movie’s budget This  Independent variable datatype is: ratio  Our Dependent variable is: audience rating This is average IMDb user rating for each movie. This Dependent variable datatype is: Interval</vt:lpstr>
      <vt:lpstr>Is there a correlation between the average audience rating and the production budget  of movies listed on the Internet Movie Database (IMDb) released between 2002 and 2019?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Joanne Harwood</dc:creator>
  <cp:lastModifiedBy>bhavithra.sr@outlook.com</cp:lastModifiedBy>
  <cp:revision>126</cp:revision>
  <dcterms:created xsi:type="dcterms:W3CDTF">2019-10-01T08:37:56Z</dcterms:created>
  <dcterms:modified xsi:type="dcterms:W3CDTF">2025-12-11T21:40:36Z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0x01010026DBA85F447B164191BB36C258697B67</vt:lpwstr>
  </property>
</Properties>
</file>