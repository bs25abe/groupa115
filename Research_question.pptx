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289" r:id="rId5"/>
    <p:sldId id="340" r:id="rId6"/>
    <p:sldId id="329" r:id="rId7"/>
    <p:sldId id="336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3249" userDrawn="1">
          <p15:clr>
            <a:srgbClr val="A4A3A4"/>
          </p15:clr>
        </p15:guide>
        <p15:guide id="4" pos="7068" userDrawn="1">
          <p15:clr>
            <a:srgbClr val="A4A3A4"/>
          </p15:clr>
        </p15:guide>
        <p15:guide id="5" orient="horz" pos="13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7CBE"/>
    <a:srgbClr val="85509A"/>
    <a:srgbClr val="714484"/>
    <a:srgbClr val="0073CF"/>
    <a:srgbClr val="203232"/>
    <a:srgbClr val="30454F"/>
    <a:srgbClr val="1295D8"/>
    <a:srgbClr val="004A5C"/>
    <a:srgbClr val="0093B6"/>
    <a:srgbClr val="00B9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7B1EB13-4B4A-3A65-7705-B39B10420BC6}" v="11" dt="2025-11-07T13:21:13.889"/>
    <p1510:client id="{94404E7A-4EB2-D0DE-A758-3B2FEF7E6025}" v="1178" dt="2025-11-07T14:31:40.79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>
        <p:guide orient="horz" pos="2160"/>
        <p:guide pos="3840"/>
        <p:guide orient="horz" pos="3249"/>
        <p:guide pos="7068"/>
        <p:guide orient="horz" pos="13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98966F2-21A1-4B2B-ADA6-AD0BB447B7C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1468BB-CDF2-4507-B4EF-7B369D307A4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FAAC3A-BD1F-4A00-9099-74B95789FE00}" type="datetimeFigureOut">
              <a:rPr lang="en-GB" smtClean="0"/>
              <a:pPr/>
              <a:t>06/12/2025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4BCF7D-6037-48D3-84E5-56B8B055214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19E732-656C-4BB5-ACCB-1568C5C66DD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9F51D9-0FEB-436E-9280-D6033F603547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05840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359C8A-39F6-4045-9163-4042C4C26B15}" type="datetimeFigureOut">
              <a:rPr lang="en-GB" smtClean="0"/>
              <a:pPr/>
              <a:t>06/12/2025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370952-48CC-46D7-9FCD-59FAD40CC02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02317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67185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59414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79849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University of Hertfordshire logo">
            <a:extLst>
              <a:ext uri="{FF2B5EF4-FFF2-40B4-BE49-F238E27FC236}">
                <a16:creationId xmlns:a16="http://schemas.microsoft.com/office/drawing/2014/main" id="{16E4BB13-0D32-AA4A-BF91-2B76A7C1824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44000" y="2854800"/>
            <a:ext cx="6501600" cy="115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167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1B53D-9933-445F-9B68-E730EB38A5A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3999" y="2579715"/>
            <a:ext cx="10031157" cy="2160000"/>
          </a:xfrm>
        </p:spPr>
        <p:txBody>
          <a:bodyPr anchor="t" anchorCtr="0">
            <a:normAutofit/>
          </a:bodyPr>
          <a:lstStyle>
            <a:lvl1pPr algn="l">
              <a:lnSpc>
                <a:spcPts val="8000"/>
              </a:lnSpc>
              <a:defRPr sz="7500" b="1" kern="3000" spc="-2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C6B9F5-608F-4534-96F0-C3A5E1A638A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54000" y="1890000"/>
            <a:ext cx="10031156" cy="36000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3600" b="1" kern="3000" spc="-10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40E7B9-9AC6-4E42-A931-6FF91E649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779733"/>
            <a:ext cx="7176911" cy="230832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16D645-6420-4785-8316-43EF780FA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79733"/>
            <a:ext cx="622800" cy="230832"/>
          </a:xfrm>
        </p:spPr>
        <p:txBody>
          <a:bodyPr wrap="square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8" name="Picture 7" descr="A picture containing drawing&#10;&#10;Description automatically generated">
            <a:extLst>
              <a:ext uri="{FF2B5EF4-FFF2-40B4-BE49-F238E27FC236}">
                <a16:creationId xmlns:a16="http://schemas.microsoft.com/office/drawing/2014/main" id="{BCCF2CA0-CCE3-4304-8F31-4D1CC50BCB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4000" y="5511600"/>
            <a:ext cx="2242800" cy="397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616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2C6B9F5-608F-4534-96F0-C3A5E1A638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4000" y="1890000"/>
            <a:ext cx="7200000" cy="36000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3600" b="1" kern="3000" spc="-1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40E7B9-9AC6-4E42-A931-6FF91E649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791022"/>
            <a:ext cx="7176911" cy="230832"/>
          </a:xfrm>
        </p:spPr>
        <p:txBody>
          <a:bodyPr>
            <a:noAutofit/>
          </a:bodyPr>
          <a:lstStyle>
            <a:lvl1pPr>
              <a:defRPr>
                <a:solidFill>
                  <a:srgbClr val="8F9898"/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16D645-6420-4785-8316-43EF780FA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91022"/>
            <a:ext cx="622800" cy="230832"/>
          </a:xfrm>
        </p:spPr>
        <p:txBody>
          <a:bodyPr wrap="square">
            <a:noAutofit/>
          </a:bodyPr>
          <a:lstStyle>
            <a:lvl1pPr>
              <a:defRPr>
                <a:solidFill>
                  <a:srgbClr val="8F9898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9449821-0D0D-644D-97A3-D56097A9C6D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3999" y="2579715"/>
            <a:ext cx="10031157" cy="2160000"/>
          </a:xfrm>
        </p:spPr>
        <p:txBody>
          <a:bodyPr anchor="t" anchorCtr="0">
            <a:normAutofit/>
          </a:bodyPr>
          <a:lstStyle>
            <a:lvl1pPr algn="l">
              <a:lnSpc>
                <a:spcPts val="8000"/>
              </a:lnSpc>
              <a:defRPr sz="7500" b="1" kern="3000" spc="-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</a:t>
            </a:r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F6EB17-8019-7B4E-B53C-76B057A7C31F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503EF50-F00F-9643-BE53-F0A5272FC4B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53998" y="5517266"/>
            <a:ext cx="2244881" cy="396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2078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 and 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AFE49-0143-472F-897B-A7DAB87AB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FBDFA-876B-4255-A301-F62F1EDD8D6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73668" y="2717444"/>
            <a:ext cx="4903200" cy="31752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4pPr>
              <a:defRPr/>
            </a:lvl4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F0C709-1F3D-4B13-A290-4041A33FB10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36000" y="2717444"/>
            <a:ext cx="4456800" cy="3175200"/>
          </a:xfr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4pPr>
              <a:defRPr/>
            </a:lvl4pPr>
            <a:lvl5pPr>
              <a:defRPr>
                <a:solidFill>
                  <a:schemeClr val="accent4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b="0"/>
              <a:t>Add Text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A8C9C5-E913-47B9-82DE-196768E6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558F66-ECA3-4B00-A383-8D2B8621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A19DAE-53D8-4F04-A4B9-B6EDFC23886D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84637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5" userDrawn="1">
          <p15:clr>
            <a:srgbClr val="FBAE40"/>
          </p15:clr>
        </p15:guide>
        <p15:guide id="3" pos="3989" userDrawn="1">
          <p15:clr>
            <a:srgbClr val="FBAE40"/>
          </p15:clr>
        </p15:guide>
        <p15:guide id="4" pos="370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E70B5-BA04-4DB3-853D-A1C05ADF8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40712-862D-4568-80A4-86117B89676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70139" y="2717600"/>
            <a:ext cx="10251722" cy="31752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B6D5D-0892-4B4E-86D9-894852B12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AA271-B0BA-42CD-A544-17AAB1FA2EEA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1322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Lar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E70B5-BA04-4DB3-853D-A1C05ADF82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4000" y="775255"/>
            <a:ext cx="7361569" cy="365125"/>
          </a:xfrm>
        </p:spPr>
        <p:txBody>
          <a:bodyPr/>
          <a:lstStyle/>
          <a:p>
            <a:r>
              <a:rPr lang="en-US"/>
              <a:t>Click to add title.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40712-862D-4568-80A4-86117B89676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70139" y="1367692"/>
            <a:ext cx="10251722" cy="4923693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AA271-B0BA-42CD-A544-17AAB1FA2EEA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5730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Larg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09D4C03-E8B1-644E-949B-F7AF9118183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70139" y="1367692"/>
            <a:ext cx="10251722" cy="4923693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chemeClr val="bg1"/>
                </a:solidFill>
              </a:defRPr>
            </a:lvl1pPr>
            <a:lvl2pPr>
              <a:defRPr lang="en-US" dirty="0" smtClean="0">
                <a:solidFill>
                  <a:schemeClr val="bg1"/>
                </a:solidFill>
              </a:defRPr>
            </a:lvl2pPr>
            <a:lvl3pPr>
              <a:defRPr lang="en-GB" dirty="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Text</a:t>
            </a:r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2EDA17D-AAE6-954F-93C6-90B8D7B80B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4000" y="775255"/>
            <a:ext cx="7361569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title.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062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Image +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AFE49-0143-472F-897B-A7DAB87AB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F0C709-1F3D-4B13-A290-4041A33FB10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835952" y="2728800"/>
            <a:ext cx="2959200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GB" spc="-100" baseline="0" dirty="0"/>
            </a:lvl4pPr>
            <a:lvl5pPr>
              <a:defRPr spc="-100" baseline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A8C9C5-E913-47B9-82DE-196768E6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558F66-ECA3-4B00-A383-8D2B8621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74043F1-6F14-49BD-83CA-12B559ABC10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54088" y="2728913"/>
            <a:ext cx="6400800" cy="4129087"/>
          </a:xfrm>
        </p:spPr>
        <p:txBody>
          <a:bodyPr/>
          <a:lstStyle/>
          <a:p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51C537-0174-43E5-8B81-C80AF1D06831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41137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Content + 2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AFE49-0143-472F-897B-A7DAB87AB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A8C9C5-E913-47B9-82DE-196768E6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558F66-ECA3-4B00-A383-8D2B8621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39FCF96-B7D6-4CCD-A4AE-46A67249D3BD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41F3B7A-B2BF-40FC-8EB2-F1C37D31648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953999" y="2728800"/>
            <a:ext cx="2959199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GB" dirty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75B7A667-B99F-7A41-AAC3-ED24B9B1D92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278804" y="2728800"/>
            <a:ext cx="2959199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GB" dirty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93C1FF47-695D-B348-AF37-1ADF5736FA9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613975" y="2728800"/>
            <a:ext cx="2959199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GB" dirty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60471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07C322-846C-9045-AD91-A93C82FC5AA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2920352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ide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edia Placeholder 8">
            <a:extLst>
              <a:ext uri="{FF2B5EF4-FFF2-40B4-BE49-F238E27FC236}">
                <a16:creationId xmlns:a16="http://schemas.microsoft.com/office/drawing/2014/main" id="{9ABCF9A5-761F-434B-BBB5-D788CB1E79D8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140400" y="140400"/>
            <a:ext cx="11916000" cy="6580800"/>
          </a:xfrm>
          <a:solidFill>
            <a:schemeClr val="bg1"/>
          </a:solidFill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28098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cons and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B6D5D-0892-4B4E-86D9-894852B12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AA271-B0BA-42CD-A544-17AAB1FA2EEA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699880E3-4DE3-A642-9738-DF49DDCC9AC5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970139" y="4079342"/>
            <a:ext cx="3144661" cy="2252134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F37D495-D835-8E4B-A177-5E12F893DDC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8077200" y="4062209"/>
            <a:ext cx="3144661" cy="2252134"/>
          </a:xfr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 lang="en-US" b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Add </a:t>
            </a:r>
            <a:r>
              <a:rPr lang="en-US"/>
              <a:t>Text</a:t>
            </a:r>
            <a:endParaRPr lang="en-GB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A6804C7E-983C-9246-90C0-AF8A0CE2CA84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4523669" y="4062209"/>
            <a:ext cx="3144661" cy="2252134"/>
          </a:xfr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 lang="en-US" b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Add </a:t>
            </a:r>
            <a:r>
              <a:rPr lang="en-US"/>
              <a:t>Text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4410427-8F1D-7541-9C05-AFDD3531678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62175" y="1640942"/>
            <a:ext cx="2160587" cy="2160588"/>
          </a:xfrm>
        </p:spPr>
        <p:txBody>
          <a:bodyPr/>
          <a:lstStyle/>
          <a:p>
            <a:endParaRPr lang="en-US"/>
          </a:p>
        </p:txBody>
      </p:sp>
      <p:sp>
        <p:nvSpPr>
          <p:cNvPr id="20" name="Picture Placeholder 7">
            <a:extLst>
              <a:ext uri="{FF2B5EF4-FFF2-40B4-BE49-F238E27FC236}">
                <a16:creationId xmlns:a16="http://schemas.microsoft.com/office/drawing/2014/main" id="{8B7D5964-7A97-5742-8717-CCB747F84A0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015705" y="1640942"/>
            <a:ext cx="2160587" cy="2160588"/>
          </a:xfrm>
        </p:spPr>
        <p:txBody>
          <a:bodyPr/>
          <a:lstStyle/>
          <a:p>
            <a:endParaRPr lang="en-US"/>
          </a:p>
        </p:txBody>
      </p:sp>
      <p:sp>
        <p:nvSpPr>
          <p:cNvPr id="21" name="Picture Placeholder 7">
            <a:extLst>
              <a:ext uri="{FF2B5EF4-FFF2-40B4-BE49-F238E27FC236}">
                <a16:creationId xmlns:a16="http://schemas.microsoft.com/office/drawing/2014/main" id="{344933FE-A401-A841-9AC3-B75285AA32D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569236" y="1640942"/>
            <a:ext cx="2160587" cy="216058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6316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p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E2CE188-32E7-4242-9E44-E8055FC030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4002" y="5511600"/>
            <a:ext cx="2242795" cy="39795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81B53D-9933-445F-9B68-E730EB38A5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26844" y="1964352"/>
            <a:ext cx="11828559" cy="1051570"/>
          </a:xfrm>
        </p:spPr>
        <p:txBody>
          <a:bodyPr vert="horz" wrap="none" lIns="0" tIns="0" rIns="0" bIns="0" rtlCol="0" anchor="t" anchorCtr="0">
            <a:noAutofit/>
          </a:bodyPr>
          <a:lstStyle>
            <a:lvl1pPr>
              <a:lnSpc>
                <a:spcPct val="100000"/>
              </a:lnSpc>
              <a:defRPr lang="en-GB" sz="7386" spc="-300" baseline="0" dirty="0">
                <a:solidFill>
                  <a:schemeClr val="bg1"/>
                </a:solidFill>
              </a:defRPr>
            </a:lvl1pPr>
          </a:lstStyle>
          <a:p>
            <a:pPr lvl="0">
              <a:lnSpc>
                <a:spcPts val="8186"/>
              </a:lnSpc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2BE80A-BFEC-E24A-B510-73A571F1F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779733"/>
            <a:ext cx="7176911" cy="230832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5B25B4-144A-5B4A-8EAD-2022412DF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79733"/>
            <a:ext cx="622800" cy="230832"/>
          </a:xfrm>
        </p:spPr>
        <p:txBody>
          <a:bodyPr wrap="square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21701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1A62CF-E2B4-496D-829D-DCE372609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4000" y="1890000"/>
            <a:ext cx="10279150" cy="36512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D84EF4-0E07-4BF3-A4AB-3E8632AA79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139" y="2717600"/>
            <a:ext cx="10279150" cy="317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 b="1"/>
              <a:t>Fifth level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527A5D-B761-4C2F-97E6-5D8254424B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70139" y="775255"/>
            <a:ext cx="7176911" cy="230832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lvl1pPr algn="l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D661B1-4E4B-4F85-ACA3-C34023D702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21333" y="783355"/>
            <a:ext cx="1400528" cy="2308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r">
              <a:defRPr sz="1500" b="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9008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63" r:id="rId2"/>
    <p:sldLayoutId id="2147483677" r:id="rId3"/>
    <p:sldLayoutId id="2147483652" r:id="rId4"/>
    <p:sldLayoutId id="2147483682" r:id="rId5"/>
    <p:sldLayoutId id="2147483721" r:id="rId6"/>
    <p:sldLayoutId id="2147483722" r:id="rId7"/>
    <p:sldLayoutId id="2147483684" r:id="rId8"/>
    <p:sldLayoutId id="2147483685" r:id="rId9"/>
    <p:sldLayoutId id="2147483686" r:id="rId10"/>
    <p:sldLayoutId id="2147483723" r:id="rId11"/>
    <p:sldLayoutId id="2147483706" r:id="rId12"/>
    <p:sldLayoutId id="2147483697" r:id="rId13"/>
  </p:sldLayoutIdLst>
  <p:hf hdr="0" dt="0"/>
  <p:txStyles>
    <p:titleStyle>
      <a:lvl1pPr algn="l" defTabSz="914400" rtl="0" eaLnBrk="1" latinLnBrk="0" hangingPunct="1">
        <a:lnSpc>
          <a:spcPts val="3600"/>
        </a:lnSpc>
        <a:spcBef>
          <a:spcPct val="0"/>
        </a:spcBef>
        <a:buNone/>
        <a:defRPr sz="3600" b="1" kern="2000" spc="-100" baseline="0">
          <a:solidFill>
            <a:srgbClr val="20323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ts val="2880"/>
        </a:lnSpc>
        <a:spcBef>
          <a:spcPts val="0"/>
        </a:spcBef>
        <a:spcAft>
          <a:spcPts val="992"/>
        </a:spcAft>
        <a:buFont typeface="Arial" panose="020B0604020202020204" pitchFamily="34" charset="0"/>
        <a:buNone/>
        <a:defRPr sz="2400" b="1" kern="2000" spc="-100" baseline="0">
          <a:solidFill>
            <a:srgbClr val="203232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ts val="2880"/>
        </a:lnSpc>
        <a:spcBef>
          <a:spcPts val="0"/>
        </a:spcBef>
        <a:spcAft>
          <a:spcPts val="992"/>
        </a:spcAft>
        <a:buFont typeface="Arial" panose="020B0604020202020204" pitchFamily="34" charset="0"/>
        <a:buNone/>
        <a:defRPr sz="2400" kern="2000" spc="-100" baseline="0">
          <a:solidFill>
            <a:srgbClr val="203232"/>
          </a:solidFill>
          <a:latin typeface="+mn-lt"/>
          <a:ea typeface="+mn-ea"/>
          <a:cs typeface="+mn-cs"/>
        </a:defRPr>
      </a:lvl2pPr>
      <a:lvl3pPr marL="216000" indent="-216000" algn="l" defTabSz="914400" rtl="0" eaLnBrk="1" latinLnBrk="0" hangingPunct="1">
        <a:lnSpc>
          <a:spcPts val="2880"/>
        </a:lnSpc>
        <a:spcBef>
          <a:spcPts val="0"/>
        </a:spcBef>
        <a:spcAft>
          <a:spcPts val="992"/>
        </a:spcAft>
        <a:buFont typeface="Arial" panose="020B0604020202020204" pitchFamily="34" charset="0"/>
        <a:buChar char="■"/>
        <a:defRPr sz="2400" kern="2000" spc="-100" baseline="0">
          <a:solidFill>
            <a:srgbClr val="203232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ts val="2160"/>
        </a:lnSpc>
        <a:spcBef>
          <a:spcPts val="0"/>
        </a:spcBef>
        <a:buFont typeface="Arial" panose="020B0604020202020204" pitchFamily="34" charset="0"/>
        <a:buNone/>
        <a:defRPr sz="1800" kern="1200">
          <a:solidFill>
            <a:srgbClr val="203232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ts val="2160"/>
        </a:lnSpc>
        <a:spcBef>
          <a:spcPts val="0"/>
        </a:spcBef>
        <a:buFont typeface="Arial" panose="020B0604020202020204" pitchFamily="34" charset="0"/>
        <a:buNone/>
        <a:defRPr sz="1800" b="1" kern="1200">
          <a:solidFill>
            <a:srgbClr val="20323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4" pos="604" userDrawn="1">
          <p15:clr>
            <a:srgbClr val="F26B43"/>
          </p15:clr>
        </p15:guide>
        <p15:guide id="5" pos="7076" userDrawn="1">
          <p15:clr>
            <a:srgbClr val="F26B43"/>
          </p15:clr>
        </p15:guide>
        <p15:guide id="6" orient="horz" pos="2160" userDrawn="1">
          <p15:clr>
            <a:srgbClr val="F26B43"/>
          </p15:clr>
        </p15:guide>
        <p15:guide id="7" orient="horz" userDrawn="1">
          <p15:clr>
            <a:srgbClr val="F26B43"/>
          </p15:clr>
        </p15:guide>
        <p15:guide id="8" orient="horz" pos="604" userDrawn="1">
          <p15:clr>
            <a:srgbClr val="F26B43"/>
          </p15:clr>
        </p15:guide>
        <p15:guide id="10" orient="horz" pos="3712" userDrawn="1">
          <p15:clr>
            <a:srgbClr val="F26B43"/>
          </p15:clr>
        </p15:guide>
        <p15:guide id="11" orient="horz" pos="11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0AEE4-CC66-FE42-B0C3-2CC7AFD37D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Research Question – </a:t>
            </a:r>
            <a:br>
              <a:rPr lang="en-US" dirty="0"/>
            </a:br>
            <a:r>
              <a:rPr lang="en-US" sz="4000" dirty="0"/>
              <a:t>Tutorial Presentation for Feedback</a:t>
            </a:r>
            <a:br>
              <a:rPr lang="en-US" sz="4000" dirty="0"/>
            </a:br>
            <a:r>
              <a:rPr lang="en-US" sz="2200" spc="0" dirty="0"/>
              <a:t>Date: 17/11/2025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75DA97-5166-7F4B-BC83-F50AC8BEDC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2000" dirty="0"/>
              <a:t>Group Name: A115                                                    Name of Student Presenting:  Bhavithra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7F4D14-5620-EC41-A86C-6CC3CFD69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1411" y="316653"/>
            <a:ext cx="11489178" cy="1156547"/>
          </a:xfrm>
        </p:spPr>
        <p:txBody>
          <a:bodyPr/>
          <a:lstStyle/>
          <a:p>
            <a:r>
              <a:rPr lang="en-GB" dirty="0"/>
              <a:t>7COM1079-2025  Student Group No: A115                  Names of Student Attendees: </a:t>
            </a:r>
            <a:r>
              <a:rPr lang="en-US" sz="1600" dirty="0"/>
              <a:t>Bhavithra Sivakumar Renugadevi,</a:t>
            </a:r>
          </a:p>
          <a:p>
            <a:r>
              <a:rPr lang="en-GB" dirty="0"/>
              <a:t>                                                                                                                                        Swasthika Karne , Nandu Yenne ,                      </a:t>
            </a:r>
          </a:p>
          <a:p>
            <a:r>
              <a:rPr lang="en-GB" dirty="0"/>
              <a:t>                                                                                                                                        Nishanth Senthil Kumar , Vibin Vijayakumar </a:t>
            </a:r>
          </a:p>
        </p:txBody>
      </p:sp>
    </p:spTree>
    <p:extLst>
      <p:ext uri="{BB962C8B-B14F-4D97-AF65-F5344CB8AC3E}">
        <p14:creationId xmlns:p14="http://schemas.microsoft.com/office/powerpoint/2010/main" val="41485325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8E3CD731-5ACF-B002-247D-243F6E2149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289" y="1147638"/>
            <a:ext cx="9753625" cy="230832"/>
          </a:xfrm>
        </p:spPr>
        <p:txBody>
          <a:bodyPr vert="horz" lIns="0" tIns="0" rIns="0" bIns="0" rtlCol="0" anchor="t">
            <a:noAutofit/>
          </a:bodyPr>
          <a:lstStyle/>
          <a:p>
            <a:pPr>
              <a:spcAft>
                <a:spcPts val="0"/>
              </a:spcAft>
            </a:pPr>
            <a:r>
              <a:rPr lang="en-GB" dirty="0">
                <a:solidFill>
                  <a:srgbClr val="203232"/>
                </a:solidFill>
                <a:cs typeface="Arial"/>
              </a:rPr>
              <a:t>Here is a sample of our dataset: </a:t>
            </a:r>
            <a:endParaRPr lang="en-GB" sz="1800" dirty="0">
              <a:solidFill>
                <a:srgbClr val="FF0000"/>
              </a:solidFill>
              <a:cs typeface="Arial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4D431B-7665-75B0-2D73-5BD588DCB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761912"/>
            <a:ext cx="7176911" cy="230832"/>
          </a:xfrm>
        </p:spPr>
        <p:txBody>
          <a:bodyPr/>
          <a:lstStyle/>
          <a:p>
            <a:r>
              <a:rPr lang="en-GB" dirty="0"/>
              <a:t>PRE 7COM1079-2025  Student Group No:  A115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25FA15-B17F-387B-E383-5505647AB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91022"/>
            <a:ext cx="622800" cy="230832"/>
          </a:xfrm>
        </p:spPr>
        <p:txBody>
          <a:bodyPr/>
          <a:lstStyle/>
          <a:p>
            <a:r>
              <a:rPr lang="en-US"/>
              <a:t>3</a:t>
            </a:r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6B15B6-E5F1-1198-D820-8D6E647385D3}"/>
              </a:ext>
            </a:extLst>
          </p:cNvPr>
          <p:cNvSpPr txBox="1"/>
          <p:nvPr/>
        </p:nvSpPr>
        <p:spPr>
          <a:xfrm>
            <a:off x="770556" y="1533364"/>
            <a:ext cx="10853087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 err="1"/>
              <a:t>IMDB_movies</a:t>
            </a:r>
            <a:r>
              <a:rPr lang="en-US" dirty="0"/>
              <a:t> dataset </a:t>
            </a:r>
          </a:p>
          <a:p>
            <a:endParaRPr lang="en-US" dirty="0"/>
          </a:p>
          <a:p>
            <a:r>
              <a:rPr lang="en-US" dirty="0"/>
              <a:t>2. The first 5 rows of the selected variables are shown below, displaying the movie duration and their average vote.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3. The dataset contains </a:t>
            </a:r>
            <a:r>
              <a:rPr lang="en-IN" dirty="0"/>
              <a:t>81273</a:t>
            </a:r>
            <a:r>
              <a:rPr lang="en-US" b="1" dirty="0"/>
              <a:t> </a:t>
            </a:r>
            <a:r>
              <a:rPr lang="en-US" dirty="0"/>
              <a:t>rows &amp; 22 columns</a:t>
            </a:r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D251461-7F47-ACCC-60F9-CF5E9BE97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4476954"/>
              </p:ext>
            </p:extLst>
          </p:nvPr>
        </p:nvGraphicFramePr>
        <p:xfrm>
          <a:off x="2362200" y="2723572"/>
          <a:ext cx="5867400" cy="1866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>
                  <a:extLst>
                    <a:ext uri="{9D8B030D-6E8A-4147-A177-3AD203B41FA5}">
                      <a16:colId xmlns:a16="http://schemas.microsoft.com/office/drawing/2014/main" val="3708414924"/>
                    </a:ext>
                  </a:extLst>
                </a:gridCol>
                <a:gridCol w="1955800">
                  <a:extLst>
                    <a:ext uri="{9D8B030D-6E8A-4147-A177-3AD203B41FA5}">
                      <a16:colId xmlns:a16="http://schemas.microsoft.com/office/drawing/2014/main" val="3426015632"/>
                    </a:ext>
                  </a:extLst>
                </a:gridCol>
                <a:gridCol w="1955800">
                  <a:extLst>
                    <a:ext uri="{9D8B030D-6E8A-4147-A177-3AD203B41FA5}">
                      <a16:colId xmlns:a16="http://schemas.microsoft.com/office/drawing/2014/main" val="2793839987"/>
                    </a:ext>
                  </a:extLst>
                </a:gridCol>
              </a:tblGrid>
              <a:tr h="2048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1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imdb_title_id</a:t>
                      </a:r>
                      <a:endParaRPr lang="en-IN" sz="2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1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avg_vote</a:t>
                      </a:r>
                      <a:endParaRPr lang="en-IN" sz="2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1" u="none" strike="noStrike">
                          <a:solidFill>
                            <a:srgbClr val="000000"/>
                          </a:solidFill>
                          <a:effectLst/>
                        </a:rPr>
                        <a:t>budget</a:t>
                      </a:r>
                      <a:endParaRPr lang="en-IN" sz="20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205858816"/>
                  </a:ext>
                </a:extLst>
              </a:tr>
              <a:tr h="24722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tt0000574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6.1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$ 2250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60942731"/>
                  </a:ext>
                </a:extLst>
              </a:tr>
              <a:tr h="24722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tt0002101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5.2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$ 45000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65704611"/>
                  </a:ext>
                </a:extLst>
              </a:tr>
              <a:tr h="24722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tt0002445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6.2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ITL 45000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730717364"/>
                  </a:ext>
                </a:extLst>
              </a:tr>
              <a:tr h="24722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tt0002452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6.7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ROL 400000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368873412"/>
                  </a:ext>
                </a:extLst>
              </a:tr>
              <a:tr h="24722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tt0002461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5.5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$ 30000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0511189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30926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9D8228-727F-1E46-B5AD-91D158B82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288" y="1285092"/>
            <a:ext cx="10110240" cy="588024"/>
          </a:xfrm>
        </p:spPr>
        <p:txBody>
          <a:bodyPr vert="horz" lIns="0" tIns="0" rIns="0" bIns="0" rtlCol="0" anchor="t">
            <a:noAutofit/>
          </a:bodyPr>
          <a:lstStyle/>
          <a:p>
            <a:r>
              <a:rPr lang="en-US" spc="0" dirty="0"/>
              <a:t>Dataset </a:t>
            </a:r>
            <a:r>
              <a:rPr lang="en-US" spc="0" dirty="0">
                <a:solidFill>
                  <a:srgbClr val="203232"/>
                </a:solidFill>
              </a:rPr>
              <a:t>ID</a:t>
            </a:r>
            <a:r>
              <a:rPr lang="en-US" sz="1600" b="0" spc="0" dirty="0">
                <a:solidFill>
                  <a:srgbClr val="FF0000"/>
                </a:solidFill>
              </a:rPr>
              <a:t>: ds115 </a:t>
            </a:r>
            <a:r>
              <a:rPr lang="en-IN" sz="1600" b="0" spc="0" dirty="0" err="1">
                <a:solidFill>
                  <a:srgbClr val="FF0000"/>
                </a:solidFill>
              </a:rPr>
              <a:t>IMDb_movies</a:t>
            </a:r>
            <a:endParaRPr lang="en-IN" sz="1600" b="0" spc="0" dirty="0">
              <a:solidFill>
                <a:srgbClr val="FF0000"/>
              </a:solidFill>
            </a:endParaRPr>
          </a:p>
          <a:p>
            <a:endParaRPr lang="en-US" sz="2400" spc="0" dirty="0">
              <a:solidFill>
                <a:srgbClr val="FF0000"/>
              </a:solidFill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0EBC183-8AA5-EC44-9987-D65F5C189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8" y="791022"/>
            <a:ext cx="9129687" cy="230832"/>
          </a:xfrm>
        </p:spPr>
        <p:txBody>
          <a:bodyPr/>
          <a:lstStyle/>
          <a:p>
            <a:r>
              <a:rPr lang="en-GB" dirty="0"/>
              <a:t>7COM1079-2025  Student Group No: A125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9D9611-42EE-7840-81EE-DD6B1A99C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54512" y="555565"/>
            <a:ext cx="622800" cy="230832"/>
          </a:xfrm>
        </p:spPr>
        <p:txBody>
          <a:bodyPr/>
          <a:lstStyle/>
          <a:p>
            <a:r>
              <a:rPr lang="en-US"/>
              <a:t>2</a:t>
            </a:r>
            <a:endParaRPr lang="en-GB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FA3829-F12C-214D-8FBA-7E1A740F65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5288" y="1873116"/>
            <a:ext cx="10974945" cy="3392169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2000" b="0" spc="0" dirty="0">
                <a:latin typeface="+mn-lt"/>
                <a:cs typeface="Calibri"/>
              </a:rPr>
              <a:t>This dataset is interesting to us because:</a:t>
            </a:r>
            <a:br>
              <a:rPr lang="en-US" sz="2000" b="0" spc="0" dirty="0">
                <a:latin typeface="+mn-lt"/>
                <a:cs typeface="Calibri"/>
              </a:rPr>
            </a:br>
            <a:r>
              <a:rPr lang="en-US" sz="2000" b="0" spc="0" dirty="0">
                <a:solidFill>
                  <a:srgbClr val="FF0000"/>
                </a:solidFill>
                <a:latin typeface="+mn-lt"/>
                <a:cs typeface="Calibri"/>
              </a:rPr>
              <a:t>This dataset is interesting because it lets us examine how a movie’s budget relates to its audience ratings </a:t>
            </a:r>
            <a:br>
              <a:rPr lang="en-US" sz="2000" b="0" spc="0" dirty="0">
                <a:latin typeface="+mn-lt"/>
                <a:cs typeface="Calibri"/>
              </a:rPr>
            </a:br>
            <a:br>
              <a:rPr lang="en-US" sz="2000" b="0" spc="0" dirty="0">
                <a:latin typeface="+mn-lt"/>
                <a:cs typeface="Calibri"/>
              </a:rPr>
            </a:br>
            <a:r>
              <a:rPr lang="en-US" sz="2000" b="0" spc="0" dirty="0">
                <a:latin typeface="+mn-lt"/>
                <a:cs typeface="Calibri"/>
              </a:rPr>
              <a:t>Our  Independent variable is: </a:t>
            </a:r>
            <a:r>
              <a:rPr lang="en-US" sz="2000" b="0" spc="0" dirty="0">
                <a:solidFill>
                  <a:srgbClr val="FF0000"/>
                </a:solidFill>
                <a:latin typeface="+mn-lt"/>
                <a:cs typeface="Calibri"/>
              </a:rPr>
              <a:t>movie budget</a:t>
            </a:r>
            <a:br>
              <a:rPr lang="en-US" sz="2000" b="0" spc="0" dirty="0">
                <a:latin typeface="+mn-lt"/>
                <a:cs typeface="Calibri"/>
              </a:rPr>
            </a:br>
            <a:r>
              <a:rPr lang="en-US" sz="2000" b="0" spc="0" dirty="0">
                <a:latin typeface="+mn-lt"/>
                <a:cs typeface="Calibri"/>
              </a:rPr>
              <a:t>This is the category of movie’s budget</a:t>
            </a:r>
            <a:br>
              <a:rPr lang="en-US" sz="2000" b="0" spc="0" dirty="0">
                <a:latin typeface="+mn-lt"/>
                <a:cs typeface="Calibri"/>
              </a:rPr>
            </a:br>
            <a:r>
              <a:rPr lang="en-US" sz="2000" b="0" spc="0" dirty="0">
                <a:latin typeface="+mn-lt"/>
                <a:cs typeface="Calibri"/>
              </a:rPr>
              <a:t>This  Independent variable datatype is: </a:t>
            </a:r>
            <a:r>
              <a:rPr lang="en-US" sz="2000" b="0" spc="0" dirty="0">
                <a:solidFill>
                  <a:srgbClr val="FF0000"/>
                </a:solidFill>
                <a:latin typeface="+mn-lt"/>
                <a:cs typeface="Calibri"/>
              </a:rPr>
              <a:t>ratio</a:t>
            </a:r>
            <a:br>
              <a:rPr lang="en-US" sz="2000" b="0" spc="0" dirty="0">
                <a:latin typeface="+mn-lt"/>
                <a:cs typeface="Calibri"/>
              </a:rPr>
            </a:br>
            <a:br>
              <a:rPr lang="en-US" sz="2000" b="0" spc="0" dirty="0">
                <a:latin typeface="+mn-lt"/>
                <a:cs typeface="Calibri"/>
              </a:rPr>
            </a:br>
            <a:r>
              <a:rPr lang="en-US" sz="2000" b="0" spc="0" dirty="0">
                <a:latin typeface="+mn-lt"/>
                <a:cs typeface="Calibri"/>
              </a:rPr>
              <a:t>Our Dependent variable is: </a:t>
            </a:r>
            <a:r>
              <a:rPr lang="en-US" sz="2000" b="0" spc="0" dirty="0">
                <a:solidFill>
                  <a:srgbClr val="FF0000"/>
                </a:solidFill>
                <a:latin typeface="+mn-lt"/>
                <a:cs typeface="Calibri"/>
              </a:rPr>
              <a:t>audience rating</a:t>
            </a:r>
            <a:br>
              <a:rPr lang="en-US" sz="2000" b="0" spc="0" dirty="0">
                <a:latin typeface="+mn-lt"/>
                <a:cs typeface="Calibri"/>
              </a:rPr>
            </a:br>
            <a:r>
              <a:rPr lang="en-US" sz="2000" b="0" spc="0" dirty="0">
                <a:latin typeface="+mn-lt"/>
                <a:cs typeface="Calibri"/>
              </a:rPr>
              <a:t>This is average IMDb user rating for each movie.</a:t>
            </a:r>
            <a:br>
              <a:rPr lang="en-US" sz="2000" b="0" spc="0" dirty="0">
                <a:latin typeface="+mn-lt"/>
                <a:cs typeface="Calibri"/>
              </a:rPr>
            </a:br>
            <a:r>
              <a:rPr lang="en-US" sz="2000" b="0" spc="0" dirty="0">
                <a:latin typeface="+mn-lt"/>
                <a:cs typeface="Calibri"/>
              </a:rPr>
              <a:t>This Dependent variable datatype is: </a:t>
            </a:r>
            <a:r>
              <a:rPr lang="en-US" sz="2000" b="0" spc="0" dirty="0">
                <a:solidFill>
                  <a:srgbClr val="FF0000"/>
                </a:solidFill>
                <a:latin typeface="+mn-lt"/>
                <a:cs typeface="Calibri"/>
              </a:rPr>
              <a:t>Interval</a:t>
            </a:r>
          </a:p>
        </p:txBody>
      </p:sp>
    </p:spTree>
    <p:extLst>
      <p:ext uri="{BB962C8B-B14F-4D97-AF65-F5344CB8AC3E}">
        <p14:creationId xmlns:p14="http://schemas.microsoft.com/office/powerpoint/2010/main" val="17180049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8E3CD731-5ACF-B002-247D-243F6E2149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2775" y="1116546"/>
            <a:ext cx="9753625" cy="23083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lang="en-GB" dirty="0"/>
              <a:t>Our Research Question </a:t>
            </a:r>
            <a:endParaRPr lang="en-US" sz="1800" b="0" spc="0" dirty="0">
              <a:solidFill>
                <a:srgbClr val="FF0000"/>
              </a:solidFill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4D431B-7665-75B0-2D73-5BD588DCB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PRE 7COM1079-2025  Student Group No:  A115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25FA15-B17F-387B-E383-5505647AB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91022"/>
            <a:ext cx="622800" cy="230832"/>
          </a:xfrm>
        </p:spPr>
        <p:txBody>
          <a:bodyPr/>
          <a:lstStyle/>
          <a:p>
            <a:r>
              <a:rPr lang="en-US"/>
              <a:t>3</a:t>
            </a:r>
            <a:endParaRPr lang="en-GB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440DA25-F620-152B-DE9E-776F7B74DF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2775" y="1588416"/>
            <a:ext cx="10640594" cy="1586584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2000" b="0" spc="0" dirty="0">
                <a:solidFill>
                  <a:srgbClr val="FF0000"/>
                </a:solidFill>
              </a:rPr>
              <a:t>Is there a correlation between the average audience rating and production budget  of movies listed on the Internet Movie Database (IMDb) released between 2000 and 2019?</a:t>
            </a:r>
            <a:br>
              <a:rPr lang="en-US" sz="2000" b="0" spc="0" dirty="0">
                <a:solidFill>
                  <a:srgbClr val="FF0000"/>
                </a:solidFill>
              </a:rPr>
            </a:br>
            <a:br>
              <a:rPr lang="en-US" sz="2400" b="0" spc="0" dirty="0">
                <a:solidFill>
                  <a:srgbClr val="FF0000"/>
                </a:solidFill>
              </a:rPr>
            </a:br>
            <a:br>
              <a:rPr lang="en-US" sz="2400" b="0" spc="0" dirty="0">
                <a:solidFill>
                  <a:srgbClr val="FF0000"/>
                </a:solidFill>
              </a:rPr>
            </a:br>
            <a:endParaRPr lang="en-GB" sz="2400" dirty="0">
              <a:solidFill>
                <a:srgbClr val="FF0000"/>
              </a:solidFill>
            </a:endParaRPr>
          </a:p>
        </p:txBody>
      </p:sp>
      <p:sp>
        <p:nvSpPr>
          <p:cNvPr id="6" name="Title 4">
            <a:extLst>
              <a:ext uri="{FF2B5EF4-FFF2-40B4-BE49-F238E27FC236}">
                <a16:creationId xmlns:a16="http://schemas.microsoft.com/office/drawing/2014/main" id="{0CBB269B-EC9E-7257-87AF-4FC5C5091401}"/>
              </a:ext>
            </a:extLst>
          </p:cNvPr>
          <p:cNvSpPr txBox="1">
            <a:spLocks/>
          </p:cNvSpPr>
          <p:nvPr/>
        </p:nvSpPr>
        <p:spPr>
          <a:xfrm>
            <a:off x="862775" y="2558137"/>
            <a:ext cx="10640594" cy="2249727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ts val="8000"/>
              </a:lnSpc>
              <a:spcBef>
                <a:spcPct val="0"/>
              </a:spcBef>
              <a:buNone/>
              <a:defRPr sz="7500" b="1" kern="3000" spc="-2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en-US" sz="2000" b="0" spc="0" dirty="0">
                <a:solidFill>
                  <a:srgbClr val="FF0000"/>
                </a:solidFill>
              </a:rPr>
              <a:t>Null Hypothesis (H₀):</a:t>
            </a:r>
          </a:p>
          <a:p>
            <a:pPr>
              <a:lnSpc>
                <a:spcPct val="100000"/>
              </a:lnSpc>
            </a:pPr>
            <a:r>
              <a:rPr lang="en-US" sz="2000" b="0" spc="0" dirty="0"/>
              <a:t>There is no correlation between average audience rating and movies budget</a:t>
            </a:r>
          </a:p>
          <a:p>
            <a:pPr>
              <a:lnSpc>
                <a:spcPct val="100000"/>
              </a:lnSpc>
            </a:pPr>
            <a:endParaRPr lang="en-US" sz="2000" b="0" spc="0" dirty="0"/>
          </a:p>
          <a:p>
            <a:pPr>
              <a:lnSpc>
                <a:spcPct val="100000"/>
              </a:lnSpc>
            </a:pPr>
            <a:r>
              <a:rPr lang="en-US" sz="2000" b="0" spc="0" dirty="0">
                <a:solidFill>
                  <a:srgbClr val="FF0000"/>
                </a:solidFill>
              </a:rPr>
              <a:t>Alternative Hypothesis (H₁):</a:t>
            </a:r>
          </a:p>
          <a:p>
            <a:pPr>
              <a:lnSpc>
                <a:spcPct val="100000"/>
              </a:lnSpc>
            </a:pPr>
            <a:r>
              <a:rPr lang="en-US" sz="2000" b="0" spc="0" dirty="0"/>
              <a:t>There is a correlation between average audience rating and movies budget</a:t>
            </a:r>
          </a:p>
        </p:txBody>
      </p:sp>
    </p:spTree>
    <p:extLst>
      <p:ext uri="{BB962C8B-B14F-4D97-AF65-F5344CB8AC3E}">
        <p14:creationId xmlns:p14="http://schemas.microsoft.com/office/powerpoint/2010/main" val="32494612"/>
      </p:ext>
    </p:extLst>
  </p:cSld>
  <p:clrMapOvr>
    <a:masterClrMapping/>
  </p:clrMapOvr>
</p:sld>
</file>

<file path=ppt/theme/theme1.xml><?xml version="1.0" encoding="utf-8"?>
<a:theme xmlns:a="http://schemas.openxmlformats.org/drawingml/2006/main" name="Herts Theme">
  <a:themeElements>
    <a:clrScheme name="Custom 2">
      <a:dk1>
        <a:srgbClr val="203232"/>
      </a:dk1>
      <a:lt1>
        <a:srgbClr val="FFFFFF"/>
      </a:lt1>
      <a:dk2>
        <a:srgbClr val="203232"/>
      </a:dk2>
      <a:lt2>
        <a:srgbClr val="FFFFFF"/>
      </a:lt2>
      <a:accent1>
        <a:srgbClr val="9C5FB5"/>
      </a:accent1>
      <a:accent2>
        <a:srgbClr val="00B9E4"/>
      </a:accent2>
      <a:accent3>
        <a:srgbClr val="F53F5B"/>
      </a:accent3>
      <a:accent4>
        <a:srgbClr val="0073CF"/>
      </a:accent4>
      <a:accent5>
        <a:srgbClr val="45B382"/>
      </a:accent5>
      <a:accent6>
        <a:srgbClr val="FFCF20"/>
      </a:accent6>
      <a:hlink>
        <a:srgbClr val="0073CF"/>
      </a:hlink>
      <a:folHlink>
        <a:srgbClr val="9C5FB5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6DBA85F447B164191BB36C258697B67" ma:contentTypeVersion="14" ma:contentTypeDescription="Create a new document." ma:contentTypeScope="" ma:versionID="ea511d05ca7f895fe9556935b5c9af34">
  <xsd:schema xmlns:xsd="http://www.w3.org/2001/XMLSchema" xmlns:xs="http://www.w3.org/2001/XMLSchema" xmlns:p="http://schemas.microsoft.com/office/2006/metadata/properties" xmlns:ns2="4ad138b4-2b68-4b70-945d-07f8f18b1c9a" xmlns:ns3="3c474641-ec36-472f-b125-6b1b0910eaa4" targetNamespace="http://schemas.microsoft.com/office/2006/metadata/properties" ma:root="true" ma:fieldsID="662270106d7a7e100bcac2c5f8d29899" ns2:_="" ns3:_="">
    <xsd:import namespace="4ad138b4-2b68-4b70-945d-07f8f18b1c9a"/>
    <xsd:import namespace="3c474641-ec36-472f-b125-6b1b0910eaa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Information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d138b4-2b68-4b70-945d-07f8f18b1c9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Information" ma:index="12" nillable="true" ma:displayName="Information" ma:format="Dropdown" ma:internalName="Information">
      <xsd:simpleType>
        <xsd:restriction base="dms:Text">
          <xsd:maxLength value="255"/>
        </xsd:restriction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c474641-ec36-472f-b125-6b1b0910eaa4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formation xmlns="4ad138b4-2b68-4b70-945d-07f8f18b1c9a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21B8C57-903D-4D0E-8336-7B512F760CD1}">
  <ds:schemaRefs>
    <ds:schemaRef ds:uri="3c474641-ec36-472f-b125-6b1b0910eaa4"/>
    <ds:schemaRef ds:uri="4ad138b4-2b68-4b70-945d-07f8f18b1c9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EDD1FC41-23C7-41B0-B5F9-BF4CD38AD2ED}">
  <ds:schemaRefs>
    <ds:schemaRef ds:uri="3c474641-ec36-472f-b125-6b1b0910eaa4"/>
    <ds:schemaRef ds:uri="4ad138b4-2b68-4b70-945d-07f8f18b1c9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91C521DD-2673-4EE6-BB9B-DC5C3320FFB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929</TotalTime>
  <Words>307</Words>
  <Application>Microsoft Office PowerPoint</Application>
  <PresentationFormat>Widescreen</PresentationFormat>
  <Paragraphs>54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 Narrow</vt:lpstr>
      <vt:lpstr>Arial</vt:lpstr>
      <vt:lpstr>Calibri</vt:lpstr>
      <vt:lpstr>Herts Theme</vt:lpstr>
      <vt:lpstr>Research Question –  Tutorial Presentation for Feedback Date: 17/11/2025</vt:lpstr>
      <vt:lpstr>PowerPoint Presentation</vt:lpstr>
      <vt:lpstr>This dataset is interesting to us because: This dataset is interesting because it lets us examine how a movie’s budget relates to its audience ratings   Our  Independent variable is: movie budget This is the category of movie’s budget This  Independent variable datatype is: ratio  Our Dependent variable is: audience rating This is average IMDb user rating for each movie. This Dependent variable datatype is: Interval</vt:lpstr>
      <vt:lpstr>Is there a correlation between the average audience rating and production budget  of movies listed on the Internet Movie Database (IMDb) released between 2000 and 2019? 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Joanne Harwood</dc:creator>
  <cp:lastModifiedBy>bhavithra.sr@outlook.com</cp:lastModifiedBy>
  <cp:revision>124</cp:revision>
  <dcterms:created xsi:type="dcterms:W3CDTF">2019-10-01T08:37:56Z</dcterms:created>
  <dcterms:modified xsi:type="dcterms:W3CDTF">2025-12-06T22:06:42Z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0x01010026DBA85F447B164191BB36C258697B67</vt:lpwstr>
  </property>
</Properties>
</file>