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9" r:id="rId5"/>
    <p:sldId id="340" r:id="rId6"/>
    <p:sldId id="329" r:id="rId7"/>
    <p:sldId id="33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B1EB13-4B4A-3A65-7705-B39B10420BC6}" v="11" dt="2025-11-07T13:21:13.889"/>
    <p1510:client id="{94404E7A-4EB2-D0DE-A758-3B2FEF7E6025}" v="1178" dt="2025-11-07T14:31:40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06/12/2025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06/12/2025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6718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984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Research Question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spc="0" dirty="0"/>
              <a:t>Date: 17/11/2025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/>
              <a:t>Group Name: A115                                                    Name of Student Presenting:  Bhavithra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1411" y="316653"/>
            <a:ext cx="11489178" cy="1156547"/>
          </a:xfrm>
        </p:spPr>
        <p:txBody>
          <a:bodyPr/>
          <a:lstStyle/>
          <a:p>
            <a:r>
              <a:rPr lang="en-GB" dirty="0"/>
              <a:t>7COM1079-2025  Student Group No: A115                  Names of Student Attendees: </a:t>
            </a:r>
            <a:r>
              <a:rPr lang="en-US" sz="1600" dirty="0"/>
              <a:t>Bhavithra Sivakumar Renugadevi,</a:t>
            </a:r>
          </a:p>
          <a:p>
            <a:r>
              <a:rPr lang="en-GB" dirty="0"/>
              <a:t>                                                                                                                                        Swasthika Karne , Nandu Yenne ,                      </a:t>
            </a:r>
          </a:p>
          <a:p>
            <a:r>
              <a:rPr lang="en-GB" dirty="0"/>
              <a:t>                                                                                                                                        Nishanth Senthil Kumar , Vibin Vijayakumar </a:t>
            </a:r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E3CD731-5ACF-B002-247D-243F6E214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147638"/>
            <a:ext cx="9753625" cy="230832"/>
          </a:xfrm>
        </p:spPr>
        <p:txBody>
          <a:bodyPr vert="horz" lIns="0" tIns="0" rIns="0" bIns="0" rtlCol="0" anchor="t">
            <a:noAutofit/>
          </a:bodyPr>
          <a:lstStyle/>
          <a:p>
            <a:pPr>
              <a:spcAft>
                <a:spcPts val="0"/>
              </a:spcAft>
            </a:pPr>
            <a:r>
              <a:rPr lang="en-GB" dirty="0">
                <a:solidFill>
                  <a:srgbClr val="203232"/>
                </a:solidFill>
                <a:cs typeface="Arial"/>
              </a:rPr>
              <a:t>Here is a sample of our dataset: </a:t>
            </a:r>
            <a:endParaRPr lang="en-GB" sz="1800" dirty="0">
              <a:solidFill>
                <a:srgbClr val="FF0000"/>
              </a:solidFill>
              <a:cs typeface="Arial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61912"/>
            <a:ext cx="7176911" cy="230832"/>
          </a:xfrm>
        </p:spPr>
        <p:txBody>
          <a:bodyPr/>
          <a:lstStyle/>
          <a:p>
            <a:r>
              <a:rPr lang="en-GB" dirty="0"/>
              <a:t>PRE 7COM1079-2025  Student Group No:  A115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/>
          <a:lstStyle/>
          <a:p>
            <a:r>
              <a:rPr lang="en-US"/>
              <a:t>3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B15B6-E5F1-1198-D820-8D6E647385D3}"/>
              </a:ext>
            </a:extLst>
          </p:cNvPr>
          <p:cNvSpPr txBox="1"/>
          <p:nvPr/>
        </p:nvSpPr>
        <p:spPr>
          <a:xfrm>
            <a:off x="770556" y="1533364"/>
            <a:ext cx="1085308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 err="1"/>
              <a:t>IMDB_movies</a:t>
            </a:r>
            <a:r>
              <a:rPr lang="en-US" dirty="0"/>
              <a:t> dataset </a:t>
            </a:r>
          </a:p>
          <a:p>
            <a:endParaRPr lang="en-US" dirty="0"/>
          </a:p>
          <a:p>
            <a:r>
              <a:rPr lang="en-US" dirty="0"/>
              <a:t>2. The first 5 rows of the selected variables are shown below, displaying the movie duration and their average vote.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3. The dataset contains </a:t>
            </a:r>
            <a:r>
              <a:rPr lang="en-IN" dirty="0"/>
              <a:t>81273</a:t>
            </a:r>
            <a:r>
              <a:rPr lang="en-US" b="1" dirty="0"/>
              <a:t> </a:t>
            </a:r>
            <a:r>
              <a:rPr lang="en-US" dirty="0"/>
              <a:t>rows &amp; 23 columns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D251461-7F47-ACCC-60F9-CF5E9BE97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4476954"/>
              </p:ext>
            </p:extLst>
          </p:nvPr>
        </p:nvGraphicFramePr>
        <p:xfrm>
          <a:off x="2362200" y="2723572"/>
          <a:ext cx="5867400" cy="186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>
                  <a:extLst>
                    <a:ext uri="{9D8B030D-6E8A-4147-A177-3AD203B41FA5}">
                      <a16:colId xmlns:a16="http://schemas.microsoft.com/office/drawing/2014/main" val="3708414924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3426015632"/>
                    </a:ext>
                  </a:extLst>
                </a:gridCol>
                <a:gridCol w="1955800">
                  <a:extLst>
                    <a:ext uri="{9D8B030D-6E8A-4147-A177-3AD203B41FA5}">
                      <a16:colId xmlns:a16="http://schemas.microsoft.com/office/drawing/2014/main" val="2793839987"/>
                    </a:ext>
                  </a:extLst>
                </a:gridCol>
              </a:tblGrid>
              <a:tr h="204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imdb_title_id</a:t>
                      </a:r>
                      <a:endParaRPr lang="en-IN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avg_vote</a:t>
                      </a:r>
                      <a:endParaRPr lang="en-IN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1" u="none" strike="noStrike">
                          <a:solidFill>
                            <a:srgbClr val="000000"/>
                          </a:solidFill>
                          <a:effectLst/>
                        </a:rPr>
                        <a:t>budget</a:t>
                      </a:r>
                      <a:endParaRPr lang="en-IN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205858816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tt0000574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6.1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$ 2250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60942731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tt0002101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5.2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$ 45000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65704611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tt0002445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6.2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ITL 45000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730717364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tt0002452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6.7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ROL 400000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68873412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tt0002461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5.5</a:t>
                      </a:r>
                      <a:endParaRPr lang="en-IN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$ 30000</a:t>
                      </a:r>
                      <a:endParaRPr lang="en-IN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051118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3092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285092"/>
            <a:ext cx="10110240" cy="588024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spc="0" dirty="0"/>
              <a:t>Dataset </a:t>
            </a:r>
            <a:r>
              <a:rPr lang="en-US" spc="0" dirty="0">
                <a:solidFill>
                  <a:srgbClr val="203232"/>
                </a:solidFill>
              </a:rPr>
              <a:t>ID</a:t>
            </a:r>
            <a:r>
              <a:rPr lang="en-US" sz="1600" b="0" spc="0" dirty="0">
                <a:solidFill>
                  <a:srgbClr val="FF0000"/>
                </a:solidFill>
              </a:rPr>
              <a:t>: ds115 </a:t>
            </a:r>
            <a:r>
              <a:rPr lang="en-IN" sz="1600" b="0" spc="0" dirty="0" err="1">
                <a:solidFill>
                  <a:srgbClr val="FF0000"/>
                </a:solidFill>
              </a:rPr>
              <a:t>IMDb_movies</a:t>
            </a:r>
            <a:endParaRPr lang="en-IN" sz="1600" b="0" spc="0" dirty="0">
              <a:solidFill>
                <a:srgbClr val="FF0000"/>
              </a:solidFill>
            </a:endParaRPr>
          </a:p>
          <a:p>
            <a:endParaRPr lang="en-US" sz="2400" spc="0" dirty="0">
              <a:solidFill>
                <a:srgbClr val="FF0000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791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A125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54512" y="555565"/>
            <a:ext cx="622800" cy="230832"/>
          </a:xfrm>
        </p:spPr>
        <p:txBody>
          <a:bodyPr/>
          <a:lstStyle/>
          <a:p>
            <a:r>
              <a:rPr lang="en-US"/>
              <a:t>2</a:t>
            </a:r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FA3829-F12C-214D-8FBA-7E1A740F6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288" y="1873116"/>
            <a:ext cx="10974945" cy="3392169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0" spc="0" dirty="0">
                <a:latin typeface="+mn-lt"/>
                <a:cs typeface="Calibri"/>
              </a:rPr>
              <a:t>This dataset is interesting to us because: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This dataset is interesting because it lets us examine how a movie’s budget relates to its audience ratings </a:t>
            </a:r>
            <a:br>
              <a:rPr lang="en-US" sz="2000" b="0" spc="0" dirty="0">
                <a:latin typeface="+mn-lt"/>
                <a:cs typeface="Calibri"/>
              </a:rPr>
            </a:b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Our  Independent variable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movie budget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is the category of movie’s budget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 Independent variable datatype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ratio</a:t>
            </a:r>
            <a:br>
              <a:rPr lang="en-US" sz="2000" b="0" spc="0" dirty="0">
                <a:latin typeface="+mn-lt"/>
                <a:cs typeface="Calibri"/>
              </a:rPr>
            </a:b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Our Dependent variable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audience rating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is average IMDb user rating for each movie.</a:t>
            </a:r>
            <a:br>
              <a:rPr lang="en-US" sz="2000" b="0" spc="0" dirty="0">
                <a:latin typeface="+mn-lt"/>
                <a:cs typeface="Calibri"/>
              </a:rPr>
            </a:br>
            <a:r>
              <a:rPr lang="en-US" sz="2000" b="0" spc="0" dirty="0">
                <a:latin typeface="+mn-lt"/>
                <a:cs typeface="Calibri"/>
              </a:rPr>
              <a:t>This Dependent variable datatype is: </a:t>
            </a:r>
            <a:r>
              <a:rPr lang="en-US" sz="2000" b="0" spc="0" dirty="0">
                <a:solidFill>
                  <a:srgbClr val="FF0000"/>
                </a:solidFill>
                <a:latin typeface="+mn-lt"/>
                <a:cs typeface="Calibri"/>
              </a:rPr>
              <a:t>Interval</a:t>
            </a:r>
          </a:p>
        </p:txBody>
      </p:sp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8E3CD731-5ACF-B002-247D-243F6E2149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2775" y="1116546"/>
            <a:ext cx="9753625" cy="230832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n-GB" dirty="0"/>
              <a:t>Our Research Question </a:t>
            </a:r>
            <a:endParaRPr lang="en-US" sz="1800" b="0" spc="0" dirty="0">
              <a:solidFill>
                <a:srgbClr val="FF0000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PRE 7COM1079-2025  Student Group No:  A115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/>
          <a:lstStyle/>
          <a:p>
            <a:r>
              <a:rPr lang="en-US"/>
              <a:t>3</a:t>
            </a:r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440DA25-F620-152B-DE9E-776F7B74DF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2775" y="1588416"/>
            <a:ext cx="10640594" cy="1586584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Is there a correlation between the average audience rating and production budget  of movies listed on the Internet Movie Database (IMDb) released between 2000 and 2019?</a:t>
            </a:r>
            <a:br>
              <a:rPr lang="en-US" sz="2000" b="0" spc="0" dirty="0">
                <a:solidFill>
                  <a:srgbClr val="FF0000"/>
                </a:solidFill>
              </a:rPr>
            </a:br>
            <a:br>
              <a:rPr lang="en-US" sz="2400" b="0" spc="0" dirty="0">
                <a:solidFill>
                  <a:srgbClr val="FF0000"/>
                </a:solidFill>
              </a:rPr>
            </a:br>
            <a:br>
              <a:rPr lang="en-US" sz="2400" b="0" spc="0" dirty="0">
                <a:solidFill>
                  <a:srgbClr val="FF0000"/>
                </a:solidFill>
              </a:rPr>
            </a:br>
            <a:endParaRPr lang="en-GB" sz="2400" dirty="0">
              <a:solidFill>
                <a:srgbClr val="FF0000"/>
              </a:solidFill>
            </a:endParaRP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0CBB269B-EC9E-7257-87AF-4FC5C5091401}"/>
              </a:ext>
            </a:extLst>
          </p:cNvPr>
          <p:cNvSpPr txBox="1">
            <a:spLocks/>
          </p:cNvSpPr>
          <p:nvPr/>
        </p:nvSpPr>
        <p:spPr>
          <a:xfrm>
            <a:off x="862775" y="2558137"/>
            <a:ext cx="10640594" cy="2249727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ts val="8000"/>
              </a:lnSpc>
              <a:spcBef>
                <a:spcPct val="0"/>
              </a:spcBef>
              <a:buNone/>
              <a:defRPr sz="7500" b="1" kern="3000" spc="-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Null Hypothesis (H₀):</a:t>
            </a:r>
          </a:p>
          <a:p>
            <a:pPr>
              <a:lnSpc>
                <a:spcPct val="100000"/>
              </a:lnSpc>
            </a:pPr>
            <a:r>
              <a:rPr lang="en-US" sz="2000" b="0" spc="0" dirty="0"/>
              <a:t>There is no correlation between average audience rating and movies budget</a:t>
            </a:r>
          </a:p>
          <a:p>
            <a:pPr>
              <a:lnSpc>
                <a:spcPct val="100000"/>
              </a:lnSpc>
            </a:pPr>
            <a:endParaRPr lang="en-US" sz="2000" b="0" spc="0" dirty="0"/>
          </a:p>
          <a:p>
            <a:pPr>
              <a:lnSpc>
                <a:spcPct val="100000"/>
              </a:lnSpc>
            </a:pPr>
            <a:r>
              <a:rPr lang="en-US" sz="2000" b="0" spc="0" dirty="0">
                <a:solidFill>
                  <a:srgbClr val="FF0000"/>
                </a:solidFill>
              </a:rPr>
              <a:t>Alternative Hypothesis (H₁):</a:t>
            </a:r>
          </a:p>
          <a:p>
            <a:pPr>
              <a:lnSpc>
                <a:spcPct val="100000"/>
              </a:lnSpc>
            </a:pPr>
            <a:r>
              <a:rPr lang="en-US" sz="2000" b="0" spc="0" dirty="0"/>
              <a:t>There is a correlation between average audience rating and movies budget</a:t>
            </a:r>
          </a:p>
        </p:txBody>
      </p:sp>
    </p:spTree>
    <p:extLst>
      <p:ext uri="{BB962C8B-B14F-4D97-AF65-F5344CB8AC3E}">
        <p14:creationId xmlns:p14="http://schemas.microsoft.com/office/powerpoint/2010/main" val="32494612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Props1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928</TotalTime>
  <Words>307</Words>
  <Application>Microsoft Office PowerPoint</Application>
  <PresentationFormat>Widescreen</PresentationFormat>
  <Paragraphs>54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 Narrow</vt:lpstr>
      <vt:lpstr>Arial</vt:lpstr>
      <vt:lpstr>Calibri</vt:lpstr>
      <vt:lpstr>Herts Theme</vt:lpstr>
      <vt:lpstr>Research Question –  Tutorial Presentation for Feedback Date: 17/11/2025</vt:lpstr>
      <vt:lpstr>PowerPoint Presentation</vt:lpstr>
      <vt:lpstr>This dataset is interesting to us because: This dataset is interesting because it lets us examine how a movie’s budget relates to its audience ratings   Our  Independent variable is: movie budget This is the category of movie’s budget This  Independent variable datatype is: ratio  Our Dependent variable is: audience rating This is average IMDb user rating for each movie. This Dependent variable datatype is: Interval</vt:lpstr>
      <vt:lpstr>Is there a correlation between the average audience rating and production budget  of movies listed on the Internet Movie Database (IMDb) released between 2000 and 2019?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bhavithra.sr@outlook.com</cp:lastModifiedBy>
  <cp:revision>123</cp:revision>
  <dcterms:created xsi:type="dcterms:W3CDTF">2019-10-01T08:37:56Z</dcterms:created>
  <dcterms:modified xsi:type="dcterms:W3CDTF">2025-12-06T21:07:25Z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