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89" r:id="rId5"/>
    <p:sldId id="329" r:id="rId6"/>
    <p:sldId id="336" r:id="rId7"/>
    <p:sldId id="341" r:id="rId8"/>
    <p:sldId id="351" r:id="rId9"/>
    <p:sldId id="342" r:id="rId10"/>
    <p:sldId id="260" r:id="rId11"/>
    <p:sldId id="262" r:id="rId12"/>
    <p:sldId id="347" r:id="rId13"/>
    <p:sldId id="349" r:id="rId14"/>
    <p:sldId id="34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7F8CF-302C-462D-B561-D9A9FE4EABDA}" v="9" dt="2025-12-01T18:16:55.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7</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861A5-5021-CEEF-B857-F0DF3FAF26FF}"/>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9354FDC1-6028-A00F-D0C9-8804359640D7}"/>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EF29CB8B-7BD7-5335-59ED-A56730672497}"/>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13924839-40BC-270C-0BBB-5C689941F96E}"/>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9</a:t>
            </a:fld>
            <a:endParaRPr lang="en-US" sz="1200" b="0" strike="noStrike" spc="-1">
              <a:latin typeface="Times New Roman"/>
            </a:endParaRPr>
          </a:p>
        </p:txBody>
      </p:sp>
    </p:spTree>
    <p:extLst>
      <p:ext uri="{BB962C8B-B14F-4D97-AF65-F5344CB8AC3E}">
        <p14:creationId xmlns:p14="http://schemas.microsoft.com/office/powerpoint/2010/main" val="2911887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E570-EC34-F086-9FF3-80DF424F8ACC}"/>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5952AF0C-655F-9DE2-9FE9-25C25E54E59D}"/>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140FB781-9DC8-CED0-DD3A-9247BDFCA9C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C19722B0-0A97-05A6-FCCF-9604F1AD2C51}"/>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10</a:t>
            </a:fld>
            <a:endParaRPr lang="en-US" sz="1200" b="0" strike="noStrike" spc="-1">
              <a:latin typeface="Times New Roman"/>
            </a:endParaRPr>
          </a:p>
        </p:txBody>
      </p:sp>
    </p:spTree>
    <p:extLst>
      <p:ext uri="{BB962C8B-B14F-4D97-AF65-F5344CB8AC3E}">
        <p14:creationId xmlns:p14="http://schemas.microsoft.com/office/powerpoint/2010/main" val="128748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CEA3-F3C9-E94C-663C-B415B207A8DD}"/>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73A700CB-70E6-AA0B-ED46-A9F400048A6A}"/>
              </a:ext>
            </a:extLst>
          </p:cNvPr>
          <p:cNvSpPr>
            <a:spLocks noGrp="1" noRot="1" noChangeAspect="1"/>
          </p:cNvSpPr>
          <p:nvPr>
            <p:ph type="sldImg"/>
          </p:nvPr>
        </p:nvSpPr>
        <p:spPr>
          <a:xfrm>
            <a:off x="685800" y="1143000"/>
            <a:ext cx="5486400" cy="3086100"/>
          </a:xfrm>
          <a:prstGeom prst="rect">
            <a:avLst/>
          </a:prstGeom>
        </p:spPr>
      </p:sp>
      <p:sp>
        <p:nvSpPr>
          <p:cNvPr id="149" name="PlaceHolder 2">
            <a:extLst>
              <a:ext uri="{FF2B5EF4-FFF2-40B4-BE49-F238E27FC236}">
                <a16:creationId xmlns:a16="http://schemas.microsoft.com/office/drawing/2014/main" id="{5E6206F1-88E3-E248-D7EB-EB6B63FF48FE}"/>
              </a:ext>
            </a:extLst>
          </p:cNvPr>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a:extLst>
              <a:ext uri="{FF2B5EF4-FFF2-40B4-BE49-F238E27FC236}">
                <a16:creationId xmlns:a16="http://schemas.microsoft.com/office/drawing/2014/main" id="{C7BA9A1A-2ADC-108B-8B7B-BA479103C495}"/>
              </a:ext>
            </a:extLst>
          </p:cNvPr>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11</a:t>
            </a:fld>
            <a:endParaRPr lang="en-US" sz="1200" b="0" strike="noStrike" spc="-1">
              <a:latin typeface="Times New Roman"/>
            </a:endParaRPr>
          </a:p>
        </p:txBody>
      </p:sp>
    </p:spTree>
    <p:extLst>
      <p:ext uri="{BB962C8B-B14F-4D97-AF65-F5344CB8AC3E}">
        <p14:creationId xmlns:p14="http://schemas.microsoft.com/office/powerpoint/2010/main" val="8775377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Id: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feedback): </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1</a:t>
            </a:fld>
            <a:endParaRPr lang="en-GB"/>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690334" y="531173"/>
            <a:ext cx="10110240" cy="588024"/>
          </a:xfrm>
        </p:spPr>
        <p:txBody>
          <a:bodyPr/>
          <a:lstStyle/>
          <a:p>
            <a:r>
              <a:rPr lang="en-US" sz="2000" b="0" dirty="0">
                <a:latin typeface="Calibri" panose="020F0502020204030204" pitchFamily="34" charset="0"/>
                <a:cs typeface="Calibri" panose="020F0502020204030204" pitchFamily="34" charset="0"/>
              </a:rPr>
              <a:t>We are using the dataset</a:t>
            </a:r>
            <a:r>
              <a:rPr lang="en-US" sz="2000" b="0" dirty="0">
                <a:solidFill>
                  <a:srgbClr val="FF0000"/>
                </a:solidFill>
                <a:latin typeface="Calibri" panose="020F0502020204030204" pitchFamily="34" charset="0"/>
                <a:cs typeface="Calibri" panose="020F0502020204030204" pitchFamily="34" charset="0"/>
              </a:rPr>
              <a:t>  </a:t>
            </a:r>
            <a:r>
              <a:rPr lang="en-US" sz="1600" dirty="0" err="1"/>
              <a:t>IMDb_movies</a:t>
            </a:r>
            <a:r>
              <a:rPr lang="en-US" sz="1600" dirty="0"/>
              <a:t>  , DS035</a:t>
            </a:r>
            <a:endParaRPr lang="en-US" sz="1600" baseline="30000" dirty="0">
              <a:solidFill>
                <a:schemeClr val="tx1"/>
              </a:solidFill>
              <a:latin typeface="Calibri" panose="020F0502020204030204" pitchFamily="34" charset="0"/>
              <a:cs typeface="Calibri" panose="020F0502020204030204" pitchFamily="34" charset="0"/>
            </a:endParaRPr>
          </a:p>
          <a:p>
            <a:br>
              <a:rPr lang="en-US" sz="2400" b="0" dirty="0">
                <a:solidFill>
                  <a:srgbClr val="FF0000"/>
                </a:solidFill>
                <a:latin typeface="Calibri" panose="020F0502020204030204" pitchFamily="34" charset="0"/>
                <a:cs typeface="Calibri" panose="020F0502020204030204" pitchFamily="34" charset="0"/>
              </a:rPr>
            </a:br>
            <a:endParaRPr lang="en-US" sz="2400" dirty="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690334" y="300341"/>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2</a:t>
            </a:fld>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427868" y="825185"/>
            <a:ext cx="10811332" cy="4339650"/>
          </a:xfrm>
          <a:prstGeom prst="rect">
            <a:avLst/>
          </a:prstGeom>
          <a:noFill/>
        </p:spPr>
        <p:txBody>
          <a:bodyPr wrap="square" rtlCol="0">
            <a:spAutoFit/>
          </a:bodyPr>
          <a:lstStyle/>
          <a:p>
            <a:r>
              <a:rPr lang="en-GB" sz="2000" dirty="0"/>
              <a:t>Our Research Question </a:t>
            </a:r>
            <a:endParaRPr lang="en-US" sz="1100" dirty="0">
              <a:solidFill>
                <a:srgbClr val="FF0000"/>
              </a:solidFill>
            </a:endParaRPr>
          </a:p>
          <a:p>
            <a:r>
              <a:rPr lang="en-US" dirty="0">
                <a:solidFill>
                  <a:srgbClr val="FF0000"/>
                </a:solidFill>
              </a:rPr>
              <a:t>Is there a correlation between the average audience rating and  production budget  of movies listed on the Internet Movie Database (IMDb) released between 2000 and 2019?</a:t>
            </a:r>
          </a:p>
          <a:p>
            <a:endParaRPr lang="en-US" dirty="0">
              <a:solidFill>
                <a:srgbClr val="FF0000"/>
              </a:solidFill>
            </a:endParaRPr>
          </a:p>
          <a:p>
            <a:r>
              <a:rPr lang="en-US" sz="1600" dirty="0">
                <a:cs typeface="Calibri"/>
              </a:rPr>
              <a:t>This dataset is interesting to us because:</a:t>
            </a:r>
            <a:br>
              <a:rPr lang="en-US" sz="1600" dirty="0">
                <a:solidFill>
                  <a:srgbClr val="FF0000"/>
                </a:solidFill>
                <a:cs typeface="Calibri"/>
              </a:rPr>
            </a:br>
            <a:r>
              <a:rPr lang="en-US" sz="1600" dirty="0">
                <a:solidFill>
                  <a:srgbClr val="FF0000"/>
                </a:solidFill>
              </a:rPr>
              <a:t>This dataset is interesting because it lets us examine how a movie’s budget relates to its audience ratings (</a:t>
            </a:r>
            <a:r>
              <a:rPr lang="en-US" sz="1600" dirty="0" err="1">
                <a:solidFill>
                  <a:srgbClr val="FF0000"/>
                </a:solidFill>
              </a:rPr>
              <a:t>avg_vote</a:t>
            </a:r>
            <a:r>
              <a:rPr lang="en-US" sz="1600" dirty="0">
                <a:solidFill>
                  <a:srgbClr val="FF0000"/>
                </a:solidFill>
              </a:rPr>
              <a:t>).</a:t>
            </a:r>
          </a:p>
          <a:p>
            <a:br>
              <a:rPr lang="en-US" sz="2800" dirty="0">
                <a:solidFill>
                  <a:srgbClr val="FF0000"/>
                </a:solidFill>
              </a:rPr>
            </a:br>
            <a:r>
              <a:rPr lang="en-US" sz="1600" dirty="0">
                <a:cs typeface="Calibri"/>
              </a:rPr>
              <a:t>Our  Independent variable is: </a:t>
            </a:r>
            <a:r>
              <a:rPr lang="en-IN" sz="1600" dirty="0">
                <a:solidFill>
                  <a:srgbClr val="FF0000"/>
                </a:solidFill>
                <a:cs typeface="Calibri"/>
              </a:rPr>
              <a:t>movie budget</a:t>
            </a:r>
            <a:br>
              <a:rPr lang="en-IN" sz="1600" dirty="0"/>
            </a:br>
            <a:r>
              <a:rPr lang="en-US" sz="1600" dirty="0"/>
              <a:t>This is the category of movie’s budget</a:t>
            </a:r>
            <a:br>
              <a:rPr lang="en-US" sz="1600" dirty="0">
                <a:solidFill>
                  <a:srgbClr val="FF0000"/>
                </a:solidFill>
                <a:cs typeface="Calibri" panose="020F0502020204030204" pitchFamily="34" charset="0"/>
              </a:rPr>
            </a:br>
            <a:r>
              <a:rPr lang="en-US" sz="1600" dirty="0">
                <a:cs typeface="Calibri"/>
              </a:rPr>
              <a:t>This  Independent variable datatype is: </a:t>
            </a:r>
            <a:r>
              <a:rPr lang="en-US" sz="1600" dirty="0">
                <a:solidFill>
                  <a:schemeClr val="accent3"/>
                </a:solidFill>
                <a:cs typeface="Calibri"/>
              </a:rPr>
              <a:t>ratio</a:t>
            </a:r>
            <a:br>
              <a:rPr lang="en-US" sz="1600" dirty="0">
                <a:solidFill>
                  <a:srgbClr val="FF0000"/>
                </a:solidFill>
                <a:cs typeface="Calibri"/>
              </a:rPr>
            </a:br>
            <a:br>
              <a:rPr lang="en-US" sz="1600" dirty="0">
                <a:cs typeface="Calibri" panose="020F0502020204030204" pitchFamily="34" charset="0"/>
              </a:rPr>
            </a:br>
            <a:r>
              <a:rPr lang="en-US" sz="1600" dirty="0">
                <a:cs typeface="Calibri"/>
              </a:rPr>
              <a:t>Our Dependent variable is: </a:t>
            </a:r>
            <a:r>
              <a:rPr lang="en-US" sz="1600" dirty="0">
                <a:solidFill>
                  <a:srgbClr val="FF0000"/>
                </a:solidFill>
                <a:cs typeface="Calibri"/>
              </a:rPr>
              <a:t>audience rating</a:t>
            </a:r>
            <a:br>
              <a:rPr lang="en-US" sz="1600" dirty="0"/>
            </a:br>
            <a:r>
              <a:rPr lang="en-US" sz="1600" dirty="0"/>
              <a:t>This is average IMDb user rating for each movie.</a:t>
            </a:r>
            <a:br>
              <a:rPr lang="en-US" sz="1600" dirty="0">
                <a:cs typeface="Calibri" panose="020F0502020204030204" pitchFamily="34" charset="0"/>
              </a:rPr>
            </a:br>
            <a:r>
              <a:rPr lang="en-US" sz="1600" dirty="0">
                <a:cs typeface="Calibri"/>
              </a:rPr>
              <a:t>This Dependent variable datatype is: </a:t>
            </a:r>
            <a:r>
              <a:rPr lang="en-US" sz="1600" dirty="0">
                <a:solidFill>
                  <a:srgbClr val="FF0000"/>
                </a:solidFill>
                <a:cs typeface="Calibri"/>
              </a:rPr>
              <a:t>Interval</a:t>
            </a:r>
          </a:p>
          <a:p>
            <a:endParaRPr lang="en-US" sz="1600" dirty="0">
              <a:solidFill>
                <a:srgbClr val="FF0000"/>
              </a:solidFill>
              <a:cs typeface="Calibri"/>
            </a:endParaRPr>
          </a:p>
          <a:p>
            <a:r>
              <a:rPr lang="en-US" sz="1400" dirty="0"/>
              <a:t>The dataset contains </a:t>
            </a:r>
            <a:r>
              <a:rPr lang="en-IN" sz="1400" dirty="0"/>
              <a:t>81273</a:t>
            </a:r>
            <a:r>
              <a:rPr lang="en-US" sz="1400" b="1" dirty="0"/>
              <a:t> </a:t>
            </a:r>
            <a:r>
              <a:rPr lang="en-US" sz="1400" dirty="0"/>
              <a:t>rows &amp; 22 columns</a:t>
            </a:r>
            <a:endParaRPr lang="en-GB" sz="1400" dirty="0">
              <a:solidFill>
                <a:srgbClr val="FF0000"/>
              </a:solidFill>
            </a:endParaRPr>
          </a:p>
        </p:txBody>
      </p:sp>
      <p:graphicFrame>
        <p:nvGraphicFramePr>
          <p:cNvPr id="6" name="Table 5">
            <a:extLst>
              <a:ext uri="{FF2B5EF4-FFF2-40B4-BE49-F238E27FC236}">
                <a16:creationId xmlns:a16="http://schemas.microsoft.com/office/drawing/2014/main" id="{B841FBDB-705A-37D6-FC1B-E3B061F9FFE4}"/>
              </a:ext>
            </a:extLst>
          </p:cNvPr>
          <p:cNvGraphicFramePr>
            <a:graphicFrameLocks noGrp="1"/>
          </p:cNvGraphicFramePr>
          <p:nvPr>
            <p:extLst>
              <p:ext uri="{D42A27DB-BD31-4B8C-83A1-F6EECF244321}">
                <p14:modId xmlns:p14="http://schemas.microsoft.com/office/powerpoint/2010/main" val="1550184513"/>
              </p:ext>
            </p:extLst>
          </p:nvPr>
        </p:nvGraphicFramePr>
        <p:xfrm>
          <a:off x="5782733" y="2906484"/>
          <a:ext cx="5456468" cy="3076524"/>
        </p:xfrm>
        <a:graphic>
          <a:graphicData uri="http://schemas.openxmlformats.org/drawingml/2006/table">
            <a:tbl>
              <a:tblPr firstRow="1" firstCol="1" lastCol="1" bandRow="1" bandCol="1">
                <a:tableStyleId>{912C8C85-51F0-491E-9774-3900AFEF0FD7}</a:tableStyleId>
              </a:tblPr>
              <a:tblGrid>
                <a:gridCol w="1809954">
                  <a:extLst>
                    <a:ext uri="{9D8B030D-6E8A-4147-A177-3AD203B41FA5}">
                      <a16:colId xmlns:a16="http://schemas.microsoft.com/office/drawing/2014/main" val="205329777"/>
                    </a:ext>
                  </a:extLst>
                </a:gridCol>
                <a:gridCol w="1823257">
                  <a:extLst>
                    <a:ext uri="{9D8B030D-6E8A-4147-A177-3AD203B41FA5}">
                      <a16:colId xmlns:a16="http://schemas.microsoft.com/office/drawing/2014/main" val="3518296749"/>
                    </a:ext>
                  </a:extLst>
                </a:gridCol>
                <a:gridCol w="1823257">
                  <a:extLst>
                    <a:ext uri="{9D8B030D-6E8A-4147-A177-3AD203B41FA5}">
                      <a16:colId xmlns:a16="http://schemas.microsoft.com/office/drawing/2014/main" val="3356793323"/>
                    </a:ext>
                  </a:extLst>
                </a:gridCol>
              </a:tblGrid>
              <a:tr h="512754">
                <a:tc>
                  <a:txBody>
                    <a:bodyPr/>
                    <a:lstStyle/>
                    <a:p>
                      <a:pPr algn="ctr" fontAlgn="b">
                        <a:buNone/>
                      </a:pPr>
                      <a:r>
                        <a:rPr lang="en-IN" sz="2000" b="1" u="none" strike="noStrike" dirty="0" err="1">
                          <a:solidFill>
                            <a:srgbClr val="000000"/>
                          </a:solidFill>
                          <a:effectLst/>
                        </a:rPr>
                        <a:t>imdb_title_id</a:t>
                      </a:r>
                      <a:endParaRPr lang="en-IN"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1" u="none" strike="noStrike" dirty="0" err="1">
                          <a:solidFill>
                            <a:srgbClr val="000000"/>
                          </a:solidFill>
                          <a:effectLst/>
                        </a:rPr>
                        <a:t>avg_vote</a:t>
                      </a:r>
                      <a:endParaRPr lang="en-IN"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1" u="none" strike="noStrike">
                          <a:solidFill>
                            <a:srgbClr val="000000"/>
                          </a:solidFill>
                          <a:effectLst/>
                        </a:rPr>
                        <a:t>budget</a:t>
                      </a:r>
                      <a:endParaRPr lang="en-IN" sz="20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57535520"/>
                  </a:ext>
                </a:extLst>
              </a:tr>
              <a:tr h="512754">
                <a:tc>
                  <a:txBody>
                    <a:bodyPr/>
                    <a:lstStyle/>
                    <a:p>
                      <a:pPr algn="ctr" fontAlgn="b">
                        <a:buNone/>
                      </a:pPr>
                      <a:r>
                        <a:rPr lang="en-IN" sz="2000" b="0" u="none" strike="noStrike" dirty="0">
                          <a:solidFill>
                            <a:srgbClr val="000000"/>
                          </a:solidFill>
                          <a:effectLst/>
                        </a:rPr>
                        <a:t>tt0000574</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6.1</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$ 2250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04960016"/>
                  </a:ext>
                </a:extLst>
              </a:tr>
              <a:tr h="512754">
                <a:tc>
                  <a:txBody>
                    <a:bodyPr/>
                    <a:lstStyle/>
                    <a:p>
                      <a:pPr algn="ctr" fontAlgn="b">
                        <a:buNone/>
                      </a:pPr>
                      <a:r>
                        <a:rPr lang="en-IN" sz="2000" b="0" u="none" strike="noStrike" dirty="0">
                          <a:solidFill>
                            <a:srgbClr val="000000"/>
                          </a:solidFill>
                          <a:effectLst/>
                        </a:rPr>
                        <a:t>tt0002101</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5.2</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$ 45000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4701405"/>
                  </a:ext>
                </a:extLst>
              </a:tr>
              <a:tr h="512754">
                <a:tc>
                  <a:txBody>
                    <a:bodyPr/>
                    <a:lstStyle/>
                    <a:p>
                      <a:pPr algn="ctr" fontAlgn="b">
                        <a:buNone/>
                      </a:pPr>
                      <a:r>
                        <a:rPr lang="en-IN" sz="2000" b="0" u="none" strike="noStrike">
                          <a:solidFill>
                            <a:srgbClr val="000000"/>
                          </a:solidFill>
                          <a:effectLst/>
                        </a:rPr>
                        <a:t>tt0002445</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6.2</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ITL 45000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7950930"/>
                  </a:ext>
                </a:extLst>
              </a:tr>
              <a:tr h="512754">
                <a:tc>
                  <a:txBody>
                    <a:bodyPr/>
                    <a:lstStyle/>
                    <a:p>
                      <a:pPr algn="ctr" fontAlgn="b">
                        <a:buNone/>
                      </a:pPr>
                      <a:r>
                        <a:rPr lang="en-IN" sz="2000" b="0" u="none" strike="noStrike">
                          <a:solidFill>
                            <a:srgbClr val="000000"/>
                          </a:solidFill>
                          <a:effectLst/>
                        </a:rPr>
                        <a:t>tt0002452</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6.7</a:t>
                      </a:r>
                      <a:endParaRPr lang="en-IN"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ROL 400000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21939745"/>
                  </a:ext>
                </a:extLst>
              </a:tr>
              <a:tr h="512754">
                <a:tc>
                  <a:txBody>
                    <a:bodyPr/>
                    <a:lstStyle/>
                    <a:p>
                      <a:pPr algn="ctr" fontAlgn="b">
                        <a:buNone/>
                      </a:pPr>
                      <a:r>
                        <a:rPr lang="en-IN" sz="2000" b="0" u="none" strike="noStrike">
                          <a:solidFill>
                            <a:srgbClr val="000000"/>
                          </a:solidFill>
                          <a:effectLst/>
                        </a:rPr>
                        <a:t>tt0002461</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a:solidFill>
                            <a:srgbClr val="000000"/>
                          </a:solidFill>
                          <a:effectLst/>
                        </a:rPr>
                        <a:t>5.5</a:t>
                      </a:r>
                      <a:endParaRPr lang="en-IN"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IN" sz="2000" b="0" u="none" strike="noStrike" dirty="0">
                          <a:solidFill>
                            <a:srgbClr val="000000"/>
                          </a:solidFill>
                          <a:effectLst/>
                        </a:rPr>
                        <a:t>$ 30000</a:t>
                      </a:r>
                      <a:endParaRPr lang="en-IN"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980093437"/>
                  </a:ext>
                </a:extLst>
              </a:tr>
            </a:tbl>
          </a:graphicData>
        </a:graphic>
      </p:graphicFrame>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3</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498685" y="6287311"/>
            <a:ext cx="11440040" cy="369332"/>
          </a:xfrm>
          <a:prstGeom prst="rect">
            <a:avLst/>
          </a:prstGeom>
          <a:solidFill>
            <a:schemeClr val="bg1">
              <a:lumMod val="95000"/>
            </a:schemeClr>
          </a:solidFill>
        </p:spPr>
        <p:txBody>
          <a:bodyPr wrap="square" rtlCol="0">
            <a:spAutoFit/>
          </a:bodyPr>
          <a:lstStyle/>
          <a:p>
            <a:r>
              <a:rPr lang="en-GB" b="1" dirty="0">
                <a:latin typeface="Calibri" panose="020F0502020204030204" pitchFamily="34" charset="0"/>
                <a:cs typeface="Calibri" panose="020F0502020204030204" pitchFamily="34" charset="0"/>
              </a:rPr>
              <a:t>Correlation</a:t>
            </a:r>
            <a:r>
              <a:rPr lang="en-GB" dirty="0"/>
              <a:t> </a:t>
            </a:r>
            <a:r>
              <a:rPr lang="en-IE" dirty="0">
                <a:latin typeface="Calibri" panose="020F0502020204030204" pitchFamily="34" charset="0"/>
                <a:cs typeface="Times New Roman" panose="02020603050405020304" pitchFamily="18" charset="0"/>
              </a:rPr>
              <a:t>analyses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how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dependent var </a:t>
            </a:r>
            <a:r>
              <a:rPr lang="en-IE" dirty="0">
                <a:latin typeface="Calibri" panose="020F0502020204030204" pitchFamily="34" charset="0"/>
                <a:ea typeface="Calibri" panose="020F0502020204030204" pitchFamily="34" charset="0"/>
                <a:cs typeface="Times New Roman" panose="02020603050405020304" pitchFamily="18" charset="0"/>
              </a:rPr>
              <a:t>correlates </a:t>
            </a:r>
            <a:r>
              <a:rPr lang="en-IE" sz="1800" dirty="0">
                <a:effectLst/>
                <a:latin typeface="Calibri" panose="020F0502020204030204" pitchFamily="34" charset="0"/>
                <a:ea typeface="Calibri" panose="020F0502020204030204" pitchFamily="34" charset="0"/>
                <a:cs typeface="Times New Roman" panose="02020603050405020304" pitchFamily="18" charset="0"/>
              </a:rPr>
              <a:t>to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ordinal/interval/ratio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independent variable</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716650"/>
            <a:ext cx="10273911" cy="668224"/>
          </a:xfrm>
          <a:solidFill>
            <a:schemeClr val="bg2"/>
          </a:solidFill>
        </p:spPr>
        <p:txBody>
          <a:bodyPr/>
          <a:lstStyle/>
          <a:p>
            <a:pPr>
              <a:lnSpc>
                <a:spcPct val="100000"/>
              </a:lnSpc>
            </a:pPr>
            <a:r>
              <a:rPr lang="en-GB" dirty="0"/>
              <a:t>Correlation</a:t>
            </a:r>
            <a:r>
              <a:rPr lang="en-GB" b="0" dirty="0"/>
              <a:t>: Included two </a:t>
            </a:r>
            <a:r>
              <a:rPr lang="en-GB" b="0" i="1" dirty="0"/>
              <a:t>visualizations</a:t>
            </a:r>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1055369" y="2007544"/>
            <a:ext cx="10656467" cy="2010058"/>
          </a:xfrm>
          <a:solidFill>
            <a:srgbClr val="FFFF00"/>
          </a:solidFill>
        </p:spPr>
        <p:txBody>
          <a:bodyPr>
            <a:normAutofit fontScale="90000"/>
          </a:bodyPr>
          <a:lstStyle/>
          <a:p>
            <a:pPr>
              <a:lnSpc>
                <a:spcPct val="100000"/>
              </a:lnSpc>
            </a:pPr>
            <a:r>
              <a:rPr lang="en-GB" sz="3600" b="0" dirty="0"/>
              <a:t>1. A scatterplot including the linear trendline</a:t>
            </a:r>
            <a:br>
              <a:rPr lang="en-GB" sz="3600" b="0" dirty="0"/>
            </a:br>
            <a:r>
              <a:rPr lang="en-GB" sz="3600" b="0" dirty="0"/>
              <a:t>       (ensuring your dependent variable is on the y-axis)</a:t>
            </a:r>
            <a:br>
              <a:rPr lang="en-GB" sz="3600" b="0" dirty="0"/>
            </a:br>
            <a:r>
              <a:rPr lang="en-GB" sz="3600" b="0" dirty="0"/>
              <a:t>2. A histogram include the normal curve overlay. The histogram plots data from your </a:t>
            </a:r>
            <a:r>
              <a:rPr lang="en-GB" sz="3600" dirty="0"/>
              <a:t>dependent variable </a:t>
            </a:r>
            <a:r>
              <a:rPr lang="en-GB" sz="3600" b="0" dirty="0"/>
              <a:t>only.</a:t>
            </a:r>
            <a:br>
              <a:rPr lang="en-GB" sz="3600" b="0" dirty="0"/>
            </a:br>
            <a:br>
              <a:rPr lang="en-GB" sz="3600" b="0" dirty="0"/>
            </a:br>
            <a:r>
              <a:rPr lang="en-GB" sz="3600" b="0" dirty="0"/>
              <a:t>Clearly labelled axes to including variable name and units of measurement. Included a title to give visualization a context.</a:t>
            </a: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 Scatter Plot )</a:t>
            </a:r>
            <a:endParaRPr lang="en-GB" dirty="0"/>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pic>
        <p:nvPicPr>
          <p:cNvPr id="6" name="Picture 5" descr="A graph showing a plot of movie budget&#10;&#10;AI-generated content may be incorrect.">
            <a:extLst>
              <a:ext uri="{FF2B5EF4-FFF2-40B4-BE49-F238E27FC236}">
                <a16:creationId xmlns:a16="http://schemas.microsoft.com/office/drawing/2014/main" id="{1C9CBDF3-B98C-2F8F-E5D3-D109724BF9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89" y="1730830"/>
            <a:ext cx="7124542" cy="3272970"/>
          </a:xfrm>
          <a:prstGeom prst="rect">
            <a:avLst/>
          </a:prstGeom>
        </p:spPr>
      </p:pic>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4BBB-3946-9D80-B19F-76256B04CD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3026C62-8B08-4736-2936-7C0E40A3C8A5}"/>
              </a:ext>
            </a:extLst>
          </p:cNvPr>
          <p:cNvSpPr>
            <a:spLocks noGrp="1"/>
          </p:cNvSpPr>
          <p:nvPr>
            <p:ph type="subTitle" idx="1"/>
          </p:nvPr>
        </p:nvSpPr>
        <p:spPr>
          <a:xfrm>
            <a:off x="953743" y="1260784"/>
            <a:ext cx="8908713" cy="470046"/>
          </a:xfrm>
        </p:spPr>
        <p:txBody>
          <a:bodyPr/>
          <a:lstStyle/>
          <a:p>
            <a:r>
              <a:rPr lang="en-US" dirty="0"/>
              <a:t>Part 1: VISUALISATION </a:t>
            </a:r>
            <a:r>
              <a:rPr lang="en-US" sz="3200" dirty="0"/>
              <a:t>( Histogram)</a:t>
            </a:r>
            <a:endParaRPr lang="en-GB" dirty="0"/>
          </a:p>
        </p:txBody>
      </p:sp>
      <p:sp>
        <p:nvSpPr>
          <p:cNvPr id="3" name="Footer Placeholder 2">
            <a:extLst>
              <a:ext uri="{FF2B5EF4-FFF2-40B4-BE49-F238E27FC236}">
                <a16:creationId xmlns:a16="http://schemas.microsoft.com/office/drawing/2014/main" id="{8F767CE0-F2BD-509E-9287-287CD8F5E60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732A7E0C-ECAB-DD89-F766-E5A2F9BF0905}"/>
              </a:ext>
            </a:extLst>
          </p:cNvPr>
          <p:cNvSpPr>
            <a:spLocks noGrp="1"/>
          </p:cNvSpPr>
          <p:nvPr>
            <p:ph type="sldNum" sz="quarter" idx="12"/>
          </p:nvPr>
        </p:nvSpPr>
        <p:spPr/>
        <p:txBody>
          <a:bodyPr/>
          <a:lstStyle/>
          <a:p>
            <a:fld id="{E4D355CA-84B7-41B1-B164-8BB439CC7C6B}" type="slidenum">
              <a:rPr lang="en-GB" smtClean="0"/>
              <a:pPr/>
              <a:t>5</a:t>
            </a:fld>
            <a:endParaRPr lang="en-GB"/>
          </a:p>
        </p:txBody>
      </p:sp>
      <p:pic>
        <p:nvPicPr>
          <p:cNvPr id="9" name="Picture 8" descr="A graph with a red line&#10;&#10;AI-generated content may be incorrect.">
            <a:extLst>
              <a:ext uri="{FF2B5EF4-FFF2-40B4-BE49-F238E27FC236}">
                <a16:creationId xmlns:a16="http://schemas.microsoft.com/office/drawing/2014/main" id="{D312A813-9104-6986-394A-47811586E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800" y="1865439"/>
            <a:ext cx="7457612" cy="3127121"/>
          </a:xfrm>
          <a:prstGeom prst="rect">
            <a:avLst/>
          </a:prstGeom>
        </p:spPr>
      </p:pic>
    </p:spTree>
    <p:extLst>
      <p:ext uri="{BB962C8B-B14F-4D97-AF65-F5344CB8AC3E}">
        <p14:creationId xmlns:p14="http://schemas.microsoft.com/office/powerpoint/2010/main" val="183123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dirty="0"/>
              <a:t>Part 2: Analysis (building on Visualizations)</a:t>
            </a:r>
            <a:endParaRPr lang="en-GB" dirty="0"/>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6</a:t>
            </a:fld>
            <a:endParaRPr lang="en-GB"/>
          </a:p>
        </p:txBody>
      </p:sp>
    </p:spTree>
    <p:extLst>
      <p:ext uri="{BB962C8B-B14F-4D97-AF65-F5344CB8AC3E}">
        <p14:creationId xmlns:p14="http://schemas.microsoft.com/office/powerpoint/2010/main" val="1771321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7</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sp>
        <p:nvSpPr>
          <p:cNvPr id="124" name="CustomShape 10"/>
          <p:cNvSpPr/>
          <p:nvPr/>
        </p:nvSpPr>
        <p:spPr>
          <a:xfrm>
            <a:off x="6782246" y="2012760"/>
            <a:ext cx="4688074" cy="147587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800" b="0" strike="noStrike" spc="-1" dirty="0">
                <a:solidFill>
                  <a:srgbClr val="203232"/>
                </a:solidFill>
                <a:latin typeface="Arial"/>
              </a:rPr>
              <a:t>The normal curve overlay </a:t>
            </a:r>
            <a:r>
              <a:rPr lang="en-GB" sz="1800" b="1" strike="noStrike" spc="-1" dirty="0">
                <a:solidFill>
                  <a:srgbClr val="203232"/>
                </a:solidFill>
                <a:latin typeface="Arial"/>
              </a:rPr>
              <a:t>does not follow </a:t>
            </a:r>
            <a:r>
              <a:rPr lang="en-GB" sz="1800" b="0" strike="noStrike" spc="-1" dirty="0">
                <a:solidFill>
                  <a:srgbClr val="203232"/>
                </a:solidFill>
                <a:latin typeface="Arial"/>
              </a:rPr>
              <a:t>the shape of the underlying data, so for our analysis we  use the non-parametric test for correlation that does not assume normality: </a:t>
            </a:r>
            <a:r>
              <a:rPr lang="en-GB" sz="1800" b="0" strike="noStrike" spc="-1" dirty="0">
                <a:solidFill>
                  <a:srgbClr val="0073CF"/>
                </a:solidFill>
                <a:latin typeface="Arial"/>
              </a:rPr>
              <a:t>Spearman’s Rho</a:t>
            </a:r>
            <a:endParaRPr lang="en-US" sz="1800" b="0" strike="noStrike" spc="-1" dirty="0">
              <a:latin typeface="Arial"/>
            </a:endParaRPr>
          </a:p>
        </p:txBody>
      </p:sp>
      <p:pic>
        <p:nvPicPr>
          <p:cNvPr id="2" name="Picture 1" descr="A graph with a red line&#10;&#10;AI-generated content may be incorrect.">
            <a:extLst>
              <a:ext uri="{FF2B5EF4-FFF2-40B4-BE49-F238E27FC236}">
                <a16:creationId xmlns:a16="http://schemas.microsoft.com/office/drawing/2014/main" id="{68C2D89D-8BC4-CAC2-9103-851C07289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20" y="2365412"/>
            <a:ext cx="6404172" cy="31271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8</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95410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000" b="0" strike="noStrike" spc="-202" dirty="0">
                <a:solidFill>
                  <a:srgbClr val="203232"/>
                </a:solidFill>
                <a:latin typeface="Arial"/>
              </a:rPr>
              <a:t>Include a snippet of the R code you use to calculate  test statistic.</a:t>
            </a:r>
          </a:p>
          <a:p>
            <a:pPr marL="285750" indent="-285750">
              <a:buFont typeface="Arial" panose="020B0604020202020204" pitchFamily="34" charset="0"/>
              <a:buChar char="•"/>
            </a:pPr>
            <a:endParaRPr lang="en-US" sz="3600" b="0" strike="noStrike" spc="-202" dirty="0">
              <a:solidFill>
                <a:srgbClr val="203232"/>
              </a:solidFill>
              <a:latin typeface="Arial"/>
            </a:endParaRPr>
          </a:p>
        </p:txBody>
      </p:sp>
      <p:pic>
        <p:nvPicPr>
          <p:cNvPr id="5" name="Picture 4">
            <a:extLst>
              <a:ext uri="{FF2B5EF4-FFF2-40B4-BE49-F238E27FC236}">
                <a16:creationId xmlns:a16="http://schemas.microsoft.com/office/drawing/2014/main" id="{045D7A18-927C-93F4-2EEA-FF47BCC19DFD}"/>
              </a:ext>
            </a:extLst>
          </p:cNvPr>
          <p:cNvPicPr>
            <a:picLocks noChangeAspect="1"/>
          </p:cNvPicPr>
          <p:nvPr/>
        </p:nvPicPr>
        <p:blipFill>
          <a:blip r:embed="rId3"/>
          <a:stretch>
            <a:fillRect/>
          </a:stretch>
        </p:blipFill>
        <p:spPr>
          <a:xfrm>
            <a:off x="1554215" y="2322939"/>
            <a:ext cx="7620477" cy="1487061"/>
          </a:xfrm>
          <a:prstGeom prst="rect">
            <a:avLst/>
          </a:prstGeom>
          <a:ln w="19050">
            <a:solidFill>
              <a:schemeClr val="tx1"/>
            </a:solidFill>
          </a:ln>
        </p:spPr>
      </p:pic>
      <p:pic>
        <p:nvPicPr>
          <p:cNvPr id="7" name="Picture 6">
            <a:extLst>
              <a:ext uri="{FF2B5EF4-FFF2-40B4-BE49-F238E27FC236}">
                <a16:creationId xmlns:a16="http://schemas.microsoft.com/office/drawing/2014/main" id="{06FF125D-ADEF-7576-666B-BB9D09DDBCF5}"/>
              </a:ext>
            </a:extLst>
          </p:cNvPr>
          <p:cNvPicPr>
            <a:picLocks noChangeAspect="1"/>
          </p:cNvPicPr>
          <p:nvPr/>
        </p:nvPicPr>
        <p:blipFill>
          <a:blip r:embed="rId4"/>
          <a:stretch>
            <a:fillRect/>
          </a:stretch>
        </p:blipFill>
        <p:spPr>
          <a:xfrm>
            <a:off x="1554215" y="4151262"/>
            <a:ext cx="7620478" cy="1575485"/>
          </a:xfrm>
          <a:prstGeom prst="rect">
            <a:avLst/>
          </a:prstGeom>
          <a:ln w="19050">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1C71-D103-28C8-930A-34E6B739B59D}"/>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2D529249-8896-08D9-25BA-72BDC3EE0624}"/>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53504660-2DAF-73FC-4AD1-76FA529A8306}"/>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9</a:t>
            </a:fld>
            <a:endParaRPr lang="en-US" sz="1500" b="0" strike="noStrike" spc="-1">
              <a:latin typeface="Times New Roman"/>
            </a:endParaRPr>
          </a:p>
        </p:txBody>
      </p:sp>
      <p:sp>
        <p:nvSpPr>
          <p:cNvPr id="137" name="TextShape 3">
            <a:extLst>
              <a:ext uri="{FF2B5EF4-FFF2-40B4-BE49-F238E27FC236}">
                <a16:creationId xmlns:a16="http://schemas.microsoft.com/office/drawing/2014/main" id="{F8EDF89E-9743-78B1-213F-955C64082B96}"/>
              </a:ext>
            </a:extLst>
          </p:cNvPr>
          <p:cNvSpPr txBox="1"/>
          <p:nvPr/>
        </p:nvSpPr>
        <p:spPr>
          <a:xfrm>
            <a:off x="813967" y="353520"/>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dirty="0">
                <a:solidFill>
                  <a:srgbClr val="203232"/>
                </a:solidFill>
                <a:latin typeface="Arial"/>
              </a:rPr>
              <a:t>R Script and Results  (For ALL types of test) – The Analysis</a:t>
            </a:r>
            <a:endParaRPr lang="en-US" sz="3600" b="1" strike="noStrike" spc="-1" dirty="0">
              <a:latin typeface="Arial"/>
            </a:endParaRPr>
          </a:p>
          <a:p>
            <a:pPr>
              <a:lnSpc>
                <a:spcPct val="100000"/>
              </a:lnSpc>
              <a:spcAft>
                <a:spcPts val="992"/>
              </a:spcAft>
              <a:tabLst>
                <a:tab pos="0" algn="l"/>
              </a:tabLst>
            </a:pPr>
            <a:endParaRPr lang="en-US" sz="2400" b="0" strike="noStrike" spc="-1" dirty="0">
              <a:latin typeface="Arial"/>
            </a:endParaRPr>
          </a:p>
        </p:txBody>
      </p:sp>
      <p:sp>
        <p:nvSpPr>
          <p:cNvPr id="4" name="TextBox 3">
            <a:extLst>
              <a:ext uri="{FF2B5EF4-FFF2-40B4-BE49-F238E27FC236}">
                <a16:creationId xmlns:a16="http://schemas.microsoft.com/office/drawing/2014/main" id="{64AD5CC1-42F8-5544-731D-4549AC98D983}"/>
              </a:ext>
            </a:extLst>
          </p:cNvPr>
          <p:cNvSpPr txBox="1"/>
          <p:nvPr/>
        </p:nvSpPr>
        <p:spPr>
          <a:xfrm>
            <a:off x="483507" y="1624674"/>
            <a:ext cx="11476446" cy="3785652"/>
          </a:xfrm>
          <a:prstGeom prst="rect">
            <a:avLst/>
          </a:prstGeom>
          <a:noFill/>
        </p:spPr>
        <p:txBody>
          <a:bodyPr wrap="square">
            <a:spAutoFit/>
          </a:bodyPr>
          <a:lstStyle/>
          <a:p>
            <a:pPr marL="285750" indent="-285750">
              <a:buFont typeface="Arial" panose="020B0604020202020204" pitchFamily="34" charset="0"/>
              <a:buChar char="•"/>
            </a:pPr>
            <a:r>
              <a:rPr lang="en-US" sz="2400" dirty="0">
                <a:solidFill>
                  <a:srgbClr val="203232"/>
                </a:solidFill>
                <a:cs typeface="Times New Roman" panose="02020603050405020304" pitchFamily="18" charset="0"/>
              </a:rPr>
              <a:t>Give the value of the test statistic. </a:t>
            </a:r>
          </a:p>
          <a:p>
            <a:pPr algn="just"/>
            <a:r>
              <a:rPr lang="en-US" sz="2400" dirty="0">
                <a:solidFill>
                  <a:srgbClr val="FF0000"/>
                </a:solidFill>
              </a:rPr>
              <a:t>The analysis produced two test statistics because the data did not meet normality assumptions, requiring non-parametric correlation tests. The Spearman's rank correlation coefficient equals 0.276, and the Kendall's tau coefficient equals 0.190. Both values indicate a positive relationship between movie budget and IMDb rating.</a:t>
            </a:r>
          </a:p>
          <a:p>
            <a:pPr algn="just"/>
            <a:endParaRPr lang="en-US" sz="2400" dirty="0">
              <a:solidFill>
                <a:srgbClr val="FF0000"/>
              </a:solidFill>
              <a:cs typeface="Times New Roman" panose="02020603050405020304" pitchFamily="18" charset="0"/>
            </a:endParaRPr>
          </a:p>
          <a:p>
            <a:pPr marL="457200" indent="-457200">
              <a:buFont typeface="Arial" panose="020B0604020202020204" pitchFamily="34" charset="0"/>
              <a:buChar char="•"/>
            </a:pPr>
            <a:r>
              <a:rPr lang="en-US" sz="2400" dirty="0">
                <a:solidFill>
                  <a:srgbClr val="203232"/>
                </a:solidFill>
              </a:rPr>
              <a:t>Tell us the p-value.  Is the p-value &gt; or &lt; 0.05?</a:t>
            </a:r>
          </a:p>
          <a:p>
            <a:pPr algn="just"/>
            <a:r>
              <a:rPr lang="en-US" sz="2400" dirty="0">
                <a:solidFill>
                  <a:srgbClr val="FF0000"/>
                </a:solidFill>
              </a:rPr>
              <a:t>The p-values for both tests are less than 0.001, which falls substantially below the standard significance threshold of 0.05. This indicates that the probability of observing such correlations by chance alone is essentially zero.</a:t>
            </a:r>
            <a:endParaRPr lang="en-US" sz="2400" dirty="0">
              <a:solidFill>
                <a:srgbClr val="FF0000"/>
              </a:solidFill>
              <a:cs typeface="Times New Roman" panose="02020603050405020304" pitchFamily="18" charset="0"/>
            </a:endParaRPr>
          </a:p>
        </p:txBody>
      </p:sp>
    </p:spTree>
    <p:extLst>
      <p:ext uri="{BB962C8B-B14F-4D97-AF65-F5344CB8AC3E}">
        <p14:creationId xmlns:p14="http://schemas.microsoft.com/office/powerpoint/2010/main" val="319413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F2150-52B7-EFE1-ED09-7CC012C5EAFF}"/>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FE4FB82A-AA3E-0436-63A8-DB9E44A869A3}"/>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5CDFCDB4-5A46-0CCD-A93F-65612875EE6C}"/>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10</a:t>
            </a:fld>
            <a:endParaRPr lang="en-US" sz="1500" b="0" strike="noStrike" spc="-1">
              <a:latin typeface="Times New Roman"/>
            </a:endParaRPr>
          </a:p>
        </p:txBody>
      </p:sp>
      <p:sp>
        <p:nvSpPr>
          <p:cNvPr id="137" name="TextShape 3">
            <a:extLst>
              <a:ext uri="{FF2B5EF4-FFF2-40B4-BE49-F238E27FC236}">
                <a16:creationId xmlns:a16="http://schemas.microsoft.com/office/drawing/2014/main" id="{27970A91-599F-E94B-5C64-EDD556A8D242}"/>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493354E7-D996-7114-A362-40A5FB929ADE}"/>
              </a:ext>
            </a:extLst>
          </p:cNvPr>
          <p:cNvSpPr txBox="1"/>
          <p:nvPr/>
        </p:nvSpPr>
        <p:spPr>
          <a:xfrm>
            <a:off x="562506" y="1426652"/>
            <a:ext cx="11066988" cy="495520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3600" b="0" strike="noStrike" spc="-202" dirty="0">
                <a:solidFill>
                  <a:srgbClr val="203232"/>
                </a:solidFill>
                <a:latin typeface="Arial"/>
              </a:rPr>
              <a:t>Is the result significant?</a:t>
            </a:r>
          </a:p>
          <a:p>
            <a:pPr algn="just"/>
            <a:r>
              <a:rPr lang="en-US" sz="2400" dirty="0">
                <a:solidFill>
                  <a:srgbClr val="FF0000"/>
                </a:solidFill>
              </a:rPr>
              <a:t>Yes, the results are statistically significant. When p-values fall below 0.05, we conclude that the observed pattern is unlikely to have occurred due to random variation in the data. These p-values are far below this threshold, providing strong statistical evidence of a genuine relationship.</a:t>
            </a:r>
          </a:p>
          <a:p>
            <a:pPr algn="just"/>
            <a:endParaRPr lang="en-US" sz="3600" b="0" strike="noStrike" spc="-202" dirty="0">
              <a:solidFill>
                <a:srgbClr val="203232"/>
              </a:solidFill>
              <a:latin typeface="Arial"/>
            </a:endParaRPr>
          </a:p>
          <a:p>
            <a:pPr marL="285750" indent="-285750">
              <a:buFont typeface="Arial" panose="020B0604020202020204" pitchFamily="34" charset="0"/>
              <a:buChar char="•"/>
            </a:pPr>
            <a:r>
              <a:rPr lang="en-US" sz="2800" b="0" strike="noStrike" spc="-202" dirty="0">
                <a:solidFill>
                  <a:srgbClr val="203232"/>
                </a:solidFill>
                <a:latin typeface="Arial"/>
              </a:rPr>
              <a:t>Do you ‘</a:t>
            </a:r>
            <a:r>
              <a:rPr lang="en-US" sz="2800" spc="-202" dirty="0">
                <a:solidFill>
                  <a:srgbClr val="203232"/>
                </a:solidFill>
                <a:latin typeface="Arial"/>
              </a:rPr>
              <a:t>fail to reject the null hypothesis’</a:t>
            </a:r>
            <a:r>
              <a:rPr lang="en-US" sz="2800" b="0" strike="noStrike" spc="-202" dirty="0">
                <a:solidFill>
                  <a:srgbClr val="203232"/>
                </a:solidFill>
                <a:latin typeface="Arial"/>
              </a:rPr>
              <a:t> or ‘reject the null hypothesis’?</a:t>
            </a:r>
          </a:p>
          <a:p>
            <a:pPr algn="just"/>
            <a:r>
              <a:rPr lang="en-US" sz="2400" dirty="0">
                <a:solidFill>
                  <a:srgbClr val="FF0000"/>
                </a:solidFill>
              </a:rPr>
              <a:t>Reject the null hypothesis. In correlation analysis, the null hypothesis states that no relationship exists between the variables, meaning the true population correlation equals zero. The extremely low p-values provide sufficient evidence to reject this null hypothesis and conclude that a non-zero correlation exists between movie budget and IMDb rating.</a:t>
            </a:r>
            <a:endParaRPr lang="en-US" sz="3600" b="0" strike="noStrike" spc="-202" dirty="0">
              <a:solidFill>
                <a:srgbClr val="FF0000"/>
              </a:solidFill>
              <a:latin typeface="Arial"/>
            </a:endParaRPr>
          </a:p>
        </p:txBody>
      </p:sp>
    </p:spTree>
    <p:extLst>
      <p:ext uri="{BB962C8B-B14F-4D97-AF65-F5344CB8AC3E}">
        <p14:creationId xmlns:p14="http://schemas.microsoft.com/office/powerpoint/2010/main" val="92559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3A0D-4625-E988-D879-3CD640456FB7}"/>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4243869F-587C-262C-90BC-2EB5910610DE}"/>
              </a:ext>
            </a:extLst>
          </p:cNvPr>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a:extLst>
              <a:ext uri="{FF2B5EF4-FFF2-40B4-BE49-F238E27FC236}">
                <a16:creationId xmlns:a16="http://schemas.microsoft.com/office/drawing/2014/main" id="{E1948B2E-7625-FA9B-0D3E-A2B414054C32}"/>
              </a:ext>
            </a:extLst>
          </p:cNvPr>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11</a:t>
            </a:fld>
            <a:endParaRPr lang="en-US" sz="1500" b="0" strike="noStrike" spc="-1">
              <a:latin typeface="Times New Roman"/>
            </a:endParaRPr>
          </a:p>
        </p:txBody>
      </p:sp>
      <p:sp>
        <p:nvSpPr>
          <p:cNvPr id="137" name="TextShape 3">
            <a:extLst>
              <a:ext uri="{FF2B5EF4-FFF2-40B4-BE49-F238E27FC236}">
                <a16:creationId xmlns:a16="http://schemas.microsoft.com/office/drawing/2014/main" id="{11BB535F-62B1-93E2-7781-1CAC4662716B}"/>
              </a:ext>
            </a:extLst>
          </p:cNvPr>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4456288F-6C71-CE13-7A93-1AC6B77A79F7}"/>
              </a:ext>
            </a:extLst>
          </p:cNvPr>
          <p:cNvSpPr txBox="1"/>
          <p:nvPr/>
        </p:nvSpPr>
        <p:spPr>
          <a:xfrm>
            <a:off x="562506" y="1426652"/>
            <a:ext cx="11066988" cy="5139869"/>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800" spc="-202" dirty="0">
                <a:solidFill>
                  <a:srgbClr val="203232"/>
                </a:solidFill>
                <a:latin typeface="Arial"/>
              </a:rPr>
              <a:t>What does the result actually mean in the wider context of learning something useful / answering  RQ?</a:t>
            </a:r>
          </a:p>
          <a:p>
            <a:pPr algn="just"/>
            <a:r>
              <a:rPr lang="en-US" sz="1600" dirty="0">
                <a:solidFill>
                  <a:srgbClr val="FF0000"/>
                </a:solidFill>
              </a:rPr>
              <a:t>While the relationship is statistically significant, the practical significance requires careful interpretation. The weak positive correlation indicates that higher-budget films do tend to receive slightly higher IMDb ratings on average, but this effect is modest. Budget explains only approximately seven to eight percent of the variation in movie ratings, suggesting that financial investment plays a minor role compared to other factors in determining film quality as perceived by audiences.</a:t>
            </a:r>
          </a:p>
          <a:p>
            <a:pPr algn="just"/>
            <a:endParaRPr lang="en-US" sz="1600" dirty="0">
              <a:solidFill>
                <a:srgbClr val="FF0000"/>
              </a:solidFill>
            </a:endParaRPr>
          </a:p>
          <a:p>
            <a:pPr algn="just"/>
            <a:r>
              <a:rPr lang="en-US" sz="1600" dirty="0">
                <a:solidFill>
                  <a:srgbClr val="FF0000"/>
                </a:solidFill>
              </a:rPr>
              <a:t>This finding confirms that budget has a measurable but limited influence on ratings. For decision-makers in the film industry, this result suggests that simply increasing production budgets does not guarantee improved audience reception. Excellence in filmmaking depends far more heavily on creative execution, storytelling quality, direction, performances, and other elements that cannot be directly purchased with higher budgets. The data reveals that many low-budget films achieve excellent ratings while numerous expensive productions receive poor audience scores, demonstrating that financial resources represent just one factor among many more influential determinants of film success.</a:t>
            </a:r>
          </a:p>
          <a:p>
            <a:pPr algn="just"/>
            <a:endParaRPr lang="en-US" sz="1600" dirty="0">
              <a:solidFill>
                <a:srgbClr val="FF0000"/>
              </a:solidFill>
            </a:endParaRPr>
          </a:p>
          <a:p>
            <a:pPr algn="just"/>
            <a:r>
              <a:rPr lang="en-US" sz="1600" dirty="0">
                <a:solidFill>
                  <a:srgbClr val="FF0000"/>
                </a:solidFill>
              </a:rPr>
              <a:t>The analysis was conducted on 12,860 movies released between 2002 and 2019 with budgets at or below fifty million dollars and complete budget and rating information. This focused subset allows for meaningful comparison within a specific segment of the film industry, though the findings may not generalize to blockbuster productions or films outside this timeframe.</a:t>
            </a:r>
          </a:p>
        </p:txBody>
      </p:sp>
    </p:spTree>
    <p:extLst>
      <p:ext uri="{BB962C8B-B14F-4D97-AF65-F5344CB8AC3E}">
        <p14:creationId xmlns:p14="http://schemas.microsoft.com/office/powerpoint/2010/main" val="1755556747"/>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535</TotalTime>
  <Words>1028</Words>
  <Application>Microsoft Office PowerPoint</Application>
  <PresentationFormat>Widescreen</PresentationFormat>
  <Paragraphs>102</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 Narrow</vt:lpstr>
      <vt:lpstr>Arial</vt:lpstr>
      <vt:lpstr>Calibri</vt:lpstr>
      <vt:lpstr>Times New Roman</vt:lpstr>
      <vt:lpstr>Herts Theme</vt:lpstr>
      <vt:lpstr>Visualization and Analysis –  Tutorial Presentation for Feedback Date:  </vt:lpstr>
      <vt:lpstr>PowerPoint Presentation</vt:lpstr>
      <vt:lpstr>1. A scatterplot including the linear trendline        (ensuring your dependent variable is on the y-axis) 2. A histogram include the normal curve overlay. The histogram plots data from your dependent variable only.  Clearly labelled axes to including variable name and units of measurement. Included a title to give visualization a context.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bhavithra.sr@outlook.com</cp:lastModifiedBy>
  <cp:revision>12</cp:revision>
  <dcterms:created xsi:type="dcterms:W3CDTF">2019-10-01T08:37:56Z</dcterms:created>
  <dcterms:modified xsi:type="dcterms:W3CDTF">2025-12-06T21:13:05Z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